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Big data analytics is optional, but a thoughtful data path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Evidence should be specific and inspectable, not a generic list of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ending should synthesize learning, not just say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9B06142E-F3CC-4E89-A281-53042868FD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9FBBB93F-E538-466F-9325-4747C622BB8E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216122"/>
            <a:ext cx="4332732" cy="48834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176D79-8908-4DC4-B5C8-858390D7B57A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2F38E9-3B26-4A19-ACE5-AD065980B8A9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585A9-5C58-4449-9975-A6CF3477AFD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35DBF7-058E-46C6-9F2D-D5FDFAC0DEAB}"/>
              </a:ext>
            </a:extLst>
          </p:cNvPr>
          <p:cNvSpPr>
            <a:spLocks noGrp="1"/>
          </p:cNvSpPr>
          <p:nvPr/>
        </p:nvSpPr>
        <p:spPr>
          <a:xfrm>
            <a:off x="723900" y="914400"/>
            <a:ext cx="6762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625" b="1">
                <a:solidFill>
                  <a:srgbClr val="1F4E79"/>
                </a:solidFill>
              </a:defRPr>
            </a:pPr>
            <a:r>
              <a:rPr sz="2625" b="1" dirty="0">
                <a:solidFill>
                  <a:srgbClr val="1F4E79"/>
                </a:solidFill>
              </a:rPr>
              <a:t>SkillHire</a:t>
            </a:r>
            <a:r>
              <a:rPr lang="en-US" sz="2625" b="1" dirty="0">
                <a:solidFill>
                  <a:srgbClr val="1F4E79"/>
                </a:solidFill>
              </a:rPr>
              <a:t> - </a:t>
            </a:r>
            <a:r>
              <a:rPr lang="en-IN" sz="2800" b="1" dirty="0">
                <a:solidFill>
                  <a:srgbClr val="2F6690"/>
                </a:solidFill>
              </a:rPr>
              <a:t>Cloud Resume-to-Job Matcher</a:t>
            </a:r>
          </a:p>
          <a:p>
            <a:pPr algn="l">
              <a:defRPr sz="2625" b="1">
                <a:solidFill>
                  <a:srgbClr val="1F4E79"/>
                </a:solidFill>
              </a:defRPr>
            </a:pPr>
            <a:endParaRPr sz="2625" b="1" dirty="0">
              <a:solidFill>
                <a:srgbClr val="1F4E79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B9F22E-023E-450B-B79F-DC3B43B08385}"/>
              </a:ext>
            </a:extLst>
          </p:cNvPr>
          <p:cNvSpPr>
            <a:spLocks noGrp="1"/>
          </p:cNvSpPr>
          <p:nvPr/>
        </p:nvSpPr>
        <p:spPr>
          <a:xfrm>
            <a:off x="1152525" y="1400175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334155"/>
                </a:solidFill>
              </a:defRPr>
            </a:pPr>
            <a:r>
              <a:rPr sz="1725" b="0" dirty="0">
                <a:solidFill>
                  <a:srgbClr val="334155"/>
                </a:solidFill>
              </a:rPr>
              <a:t>AI-Powered Resume Matching on AWS Cloud | SDG 8</a:t>
            </a:r>
          </a:p>
        </p:txBody>
      </p:sp>
      <p:sp>
        <p:nvSpPr>
          <p:cNvPr id="10" name="Presenter Details-panel">
            <a:extLst>
              <a:ext uri="{FF2B5EF4-FFF2-40B4-BE49-F238E27FC236}">
                <a16:creationId xmlns:a16="http://schemas.microsoft.com/office/drawing/2014/main" id="{026FC1EB-45C7-4E91-8A1F-CB548C0E1AC6}"/>
              </a:ext>
            </a:extLst>
          </p:cNvPr>
          <p:cNvSpPr>
            <a:spLocks noGrp="1"/>
          </p:cNvSpPr>
          <p:nvPr/>
        </p:nvSpPr>
        <p:spPr>
          <a:xfrm>
            <a:off x="7524750" y="1143000"/>
            <a:ext cx="4563618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1" name="Presenter Details-bar">
            <a:extLst>
              <a:ext uri="{FF2B5EF4-FFF2-40B4-BE49-F238E27FC236}">
                <a16:creationId xmlns:a16="http://schemas.microsoft.com/office/drawing/2014/main" id="{4020DDA8-1B21-47A7-B591-7FEA9A0D37B8}"/>
              </a:ext>
            </a:extLst>
          </p:cNvPr>
          <p:cNvSpPr>
            <a:spLocks noGrp="1"/>
          </p:cNvSpPr>
          <p:nvPr/>
        </p:nvSpPr>
        <p:spPr>
          <a:xfrm>
            <a:off x="7524750" y="1143000"/>
            <a:ext cx="4563618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1DB28C-ABEE-4AF3-BA11-2EE572ED3AA4}"/>
              </a:ext>
            </a:extLst>
          </p:cNvPr>
          <p:cNvSpPr>
            <a:spLocks noGrp="1"/>
          </p:cNvSpPr>
          <p:nvPr/>
        </p:nvSpPr>
        <p:spPr>
          <a:xfrm>
            <a:off x="7696200" y="1333500"/>
            <a:ext cx="3371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Presenter Details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6EAB4F-93DD-48B8-A590-506DB84EE9D0}"/>
              </a:ext>
            </a:extLst>
          </p:cNvPr>
          <p:cNvSpPr>
            <a:spLocks noGrp="1"/>
          </p:cNvSpPr>
          <p:nvPr/>
        </p:nvSpPr>
        <p:spPr>
          <a:xfrm>
            <a:off x="7696200" y="1733550"/>
            <a:ext cx="4430268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Student Name: Mukilan R</a:t>
            </a: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Register Number: [</a:t>
            </a:r>
            <a:r>
              <a:rPr lang="en-US" sz="1350" b="0" dirty="0">
                <a:solidFill>
                  <a:srgbClr val="172033"/>
                </a:solidFill>
              </a:rPr>
              <a:t>192421043</a:t>
            </a:r>
            <a:r>
              <a:rPr sz="1350" b="0" dirty="0">
                <a:solidFill>
                  <a:srgbClr val="172033"/>
                </a:solidFill>
              </a:rPr>
              <a:t>]</a:t>
            </a: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Class / Section / Slot:</a:t>
            </a:r>
            <a:r>
              <a:rPr lang="en-US" sz="1350" b="0" dirty="0">
                <a:solidFill>
                  <a:srgbClr val="172033"/>
                </a:solidFill>
              </a:rPr>
              <a:t> Slot C</a:t>
            </a:r>
            <a:endParaRPr sz="1350" b="0" dirty="0">
              <a:solidFill>
                <a:srgbClr val="172033"/>
              </a:solidFill>
            </a:endParaRP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Capstone Title: SkillHire – Cloud Resume-to-Job Matcher</a:t>
            </a: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Selected SDG Goal(s): SDG 8 – Decent Work and Economic Growth</a:t>
            </a:r>
          </a:p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Cloud Platform / Tools: AWS (EC2, RDS, S3, Lambda, API Gateway)</a:t>
            </a:r>
          </a:p>
        </p:txBody>
      </p:sp>
      <p:sp>
        <p:nvSpPr>
          <p:cNvPr id="14" name="Presentation Focus-panel">
            <a:extLst>
              <a:ext uri="{FF2B5EF4-FFF2-40B4-BE49-F238E27FC236}">
                <a16:creationId xmlns:a16="http://schemas.microsoft.com/office/drawing/2014/main" id="{E007A704-136A-4772-8136-228D179D90F3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6191250" cy="1400000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5" name="Presentation Focus-bar">
            <a:extLst>
              <a:ext uri="{FF2B5EF4-FFF2-40B4-BE49-F238E27FC236}">
                <a16:creationId xmlns:a16="http://schemas.microsoft.com/office/drawing/2014/main" id="{9A8B55DD-C50D-4EBE-8D42-09C3AFEBC256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3838D8-68FD-440F-850D-39E535D1B09D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584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Focus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0EF82A-E5D0-4E9F-A5DA-524FFCCBA162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5848350" cy="70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SkillHire matches resumes against job descriptions on an AWS-hosted AI engine, instantly returning a match score, skill gaps, and job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578121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96C9DB65-EE41-42F0-BFE5-904DABBECC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1445C730-48FC-4ED5-833B-7BABEB75590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6FAC00-DF58-47FE-AB94-47E359D71034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AF8C21-8D23-4B2E-9161-570DB0F15A2E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02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5CECFF0D-00D3-4164-A882-67A9D7F7BDF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Problem Context and Stakeholder Mapping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13D6BBF0-0811-4AEC-859E-4DA22E45983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capstone begins with a real problem to solve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F1429-DBD5-4810-8A9E-4BDCFD84D10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7FC94C92-DF64-4CF0-B9BD-F9EC6736727B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AE17465D-DDD4-4D5A-8D25-CDB85D1CF1B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F0FA6E-534E-43E6-9AFE-6FF331BCCA67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Problem Statement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572FD-23A2-4D9E-B0F0-5EAD7E36675D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6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Students can't tell if their resume matches a job, and recruiters spend hours manually screening resumes — often rejecting good candidates over keyword mismatches.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9D084BCD-5716-402F-B3A0-2A076BC559DF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86914AF8-382F-4D7B-907C-C2366F438CFF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A25EDB-E709-4E43-96E5-D6EDAF43E1A8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Target Users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F4DFDB-00F0-4005-8DF1-0D3DA623117A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6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Students and job seekers get an instant match score and skill-gap report; recruiters and companies get faster, more objective candidate shortlisting.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70F04CCC-E97C-41A2-B092-AFCB6DD5CB1D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F7B70109-28C0-4258-BA36-191215A74ACB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45DCFC-21FC-46E7-9B67-E602B9672DFD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SDG Fit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4E0334-3323-4CFE-94F0-2F8ED78DAA1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6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SDG 8 – Decent Work and Economic Growth: better job matching improves employability and hiring efficiency.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85879376-A892-4DF8-9128-A8E1660AC3C9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21AB52B8-D3E6-47FF-930D-8711AE53BEDA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723AF1-3C13-4CD3-9871-9E66177F30A1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Boundary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1BB5DB-1B85-40AB-987A-C4EBE771A969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620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Resume upload, AI-based match scoring against a job description, missing-skill report, and job recommendations in one web dashboard.</a:t>
            </a:r>
          </a:p>
        </p:txBody>
      </p:sp>
    </p:spTree>
    <p:extLst>
      <p:ext uri="{BB962C8B-B14F-4D97-AF65-F5344CB8AC3E}">
        <p14:creationId xmlns:p14="http://schemas.microsoft.com/office/powerpoint/2010/main" val="45716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974609AC-A313-48C7-8EA0-BBF476F6CD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CA920F6A-C07B-4196-A050-460A5D99905A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D16B80-1792-4781-BFC1-FAF909355EA7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4E820C-4148-4DB8-B64F-5C6F1F2BE3CB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03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0EB130A9-B3CC-401F-BB50-852F20F1CBF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Adoption Rationale and Concept Map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3410A7ED-2B78-4A4A-90E9-BD3BF1EC01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problem needs cloud support to become a usable product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5E963-F0EF-47C4-A912-34B4F75F8AB4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Cloud Definition-panel">
            <a:extLst>
              <a:ext uri="{FF2B5EF4-FFF2-40B4-BE49-F238E27FC236}">
                <a16:creationId xmlns:a16="http://schemas.microsoft.com/office/drawing/2014/main" id="{AD218011-A380-4A51-97A6-CD9CB6F26332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Cloud Definition-bar">
            <a:extLst>
              <a:ext uri="{FF2B5EF4-FFF2-40B4-BE49-F238E27FC236}">
                <a16:creationId xmlns:a16="http://schemas.microsoft.com/office/drawing/2014/main" id="{1D76A136-FBE0-431C-98E9-7A1C4C1E8B5E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90D074-C946-43C4-BB0E-CEB593196667}"/>
              </a:ext>
            </a:extLst>
          </p:cNvPr>
          <p:cNvSpPr>
            <a:spLocks noGrp="1"/>
          </p:cNvSpPr>
          <p:nvPr/>
        </p:nvSpPr>
        <p:spPr>
          <a:xfrm>
            <a:off x="895350" y="179070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Definition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75EB4-D131-4811-8DC0-D7793D910019}"/>
              </a:ext>
            </a:extLst>
          </p:cNvPr>
          <p:cNvSpPr>
            <a:spLocks noGrp="1"/>
          </p:cNvSpPr>
          <p:nvPr/>
        </p:nvSpPr>
        <p:spPr>
          <a:xfrm>
            <a:off x="895350" y="219075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Cloud computing lets SkillHire store resumes, run the AI matching engine, and serve dashboards on-demand — without owning or managing physical servers.</a:t>
            </a:r>
          </a:p>
        </p:txBody>
      </p:sp>
      <p:sp>
        <p:nvSpPr>
          <p:cNvPr id="13" name="Cloud Characteristics-panel">
            <a:extLst>
              <a:ext uri="{FF2B5EF4-FFF2-40B4-BE49-F238E27FC236}">
                <a16:creationId xmlns:a16="http://schemas.microsoft.com/office/drawing/2014/main" id="{70001ADB-8876-4971-BEC4-E866A0AF98A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4" name="Cloud Characteristics-bar">
            <a:extLst>
              <a:ext uri="{FF2B5EF4-FFF2-40B4-BE49-F238E27FC236}">
                <a16:creationId xmlns:a16="http://schemas.microsoft.com/office/drawing/2014/main" id="{FD3C8DA8-4FF3-4301-A34B-28F066B48937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50A08-F926-4019-8E7C-1EC6387AD7F1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4419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Characteristics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462589-88ED-47BF-94B0-87157FCBEAD7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44196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On-demand access, elastic scaling for traffic spikes, secure storage, availability from anywhere, and pay-as-you-go cost savings.</a:t>
            </a:r>
          </a:p>
        </p:txBody>
      </p:sp>
      <p:sp>
        <p:nvSpPr>
          <p:cNvPr id="17" name="Cloud Concept Map-placeholder">
            <a:extLst>
              <a:ext uri="{FF2B5EF4-FFF2-40B4-BE49-F238E27FC236}">
                <a16:creationId xmlns:a16="http://schemas.microsoft.com/office/drawing/2014/main" id="{7F8A432F-7645-40C1-8F55-5A0E33711683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289560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1046DD-29ED-4FE8-A690-9E0865019C36}"/>
              </a:ext>
            </a:extLst>
          </p:cNvPr>
          <p:cNvSpPr>
            <a:spLocks noGrp="1"/>
          </p:cNvSpPr>
          <p:nvPr/>
        </p:nvSpPr>
        <p:spPr>
          <a:xfrm>
            <a:off x="6305550" y="1771650"/>
            <a:ext cx="441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Cloud Concept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925000-FD0E-43BD-896D-9A28AAD1CE4B}"/>
              </a:ext>
            </a:extLst>
          </p:cNvPr>
          <p:cNvSpPr>
            <a:spLocks noGrp="1"/>
          </p:cNvSpPr>
          <p:nvPr/>
        </p:nvSpPr>
        <p:spPr>
          <a:xfrm>
            <a:off x="6099429" y="2228850"/>
            <a:ext cx="4831842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 dirty="0">
                <a:solidFill>
                  <a:srgbClr val="64748B"/>
                </a:solidFill>
              </a:rPr>
              <a:t>Cloud Ecosystem (AWS) → Service Models (IaaS/PaaS/SaaS) → API Gateway → Compute (EC2, Lambda) + Storage (RDS, S3) → SkillHire Modules: Resume Parser, AI Matching Engine, Analytics Dashboard.</a:t>
            </a:r>
          </a:p>
        </p:txBody>
      </p:sp>
    </p:spTree>
    <p:extLst>
      <p:ext uri="{BB962C8B-B14F-4D97-AF65-F5344CB8AC3E}">
        <p14:creationId xmlns:p14="http://schemas.microsoft.com/office/powerpoint/2010/main" val="1542020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1D66A06A-C5A7-4E4D-A8CE-7C9B1905C9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94C954A4-927B-4AC4-9924-6F902FEE4F82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8838C1-A11A-4414-87AB-5CC3F4800885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BA233D-7AAC-457D-8EE8-532987047063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04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E2744D09-7E8F-4E38-A4E0-C83DB520C1A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Capstone Cloud Architecture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398078CA-0B46-401C-AB41-764E38CC2F6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cloud architecture connects the user action to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016EFB-9229-4F23-BCB6-205E81C42779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node-User App / Web App">
            <a:extLst>
              <a:ext uri="{FF2B5EF4-FFF2-40B4-BE49-F238E27FC236}">
                <a16:creationId xmlns:a16="http://schemas.microsoft.com/office/drawing/2014/main" id="{EACDBA85-7487-4017-953D-61DBA0964935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1500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83940F-2555-48FB-BCB3-1F2AACE21E4E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1385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 dirty="0">
                <a:solidFill>
                  <a:srgbClr val="1F4E79"/>
                </a:solidFill>
              </a:rPr>
              <a:t>User App / Web App</a:t>
            </a:r>
          </a:p>
        </p:txBody>
      </p:sp>
      <p:sp>
        <p:nvSpPr>
          <p:cNvPr id="11" name="node-Auth + API Gateway">
            <a:extLst>
              <a:ext uri="{FF2B5EF4-FFF2-40B4-BE49-F238E27FC236}">
                <a16:creationId xmlns:a16="http://schemas.microsoft.com/office/drawing/2014/main" id="{87E92863-AD60-495C-AADD-91A384C2C28B}"/>
              </a:ext>
            </a:extLst>
          </p:cNvPr>
          <p:cNvSpPr>
            <a:spLocks noGrp="1"/>
          </p:cNvSpPr>
          <p:nvPr/>
        </p:nvSpPr>
        <p:spPr>
          <a:xfrm>
            <a:off x="3047750" y="2095500"/>
            <a:ext cx="1500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C21A1-B18B-4A65-8F8C-205AFA4C8955}"/>
              </a:ext>
            </a:extLst>
          </p:cNvPr>
          <p:cNvSpPr>
            <a:spLocks noGrp="1"/>
          </p:cNvSpPr>
          <p:nvPr/>
        </p:nvSpPr>
        <p:spPr>
          <a:xfrm>
            <a:off x="3047750" y="2220849"/>
            <a:ext cx="1385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 dirty="0">
                <a:solidFill>
                  <a:srgbClr val="1F4E79"/>
                </a:solidFill>
              </a:rPr>
              <a:t>Auth + API Gateway</a:t>
            </a:r>
          </a:p>
        </p:txBody>
      </p:sp>
      <p:sp>
        <p:nvSpPr>
          <p:cNvPr id="13" name="node-Backend Services">
            <a:extLst>
              <a:ext uri="{FF2B5EF4-FFF2-40B4-BE49-F238E27FC236}">
                <a16:creationId xmlns:a16="http://schemas.microsoft.com/office/drawing/2014/main" id="{04963F9D-7FA8-4665-A892-A5BDBB61A273}"/>
              </a:ext>
            </a:extLst>
          </p:cNvPr>
          <p:cNvSpPr>
            <a:spLocks noGrp="1"/>
          </p:cNvSpPr>
          <p:nvPr/>
        </p:nvSpPr>
        <p:spPr>
          <a:xfrm>
            <a:off x="5047750" y="2095500"/>
            <a:ext cx="1500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667580-1FAC-4EC1-9AB5-6F3691EEE50C}"/>
              </a:ext>
            </a:extLst>
          </p:cNvPr>
          <p:cNvSpPr>
            <a:spLocks noGrp="1"/>
          </p:cNvSpPr>
          <p:nvPr/>
        </p:nvSpPr>
        <p:spPr>
          <a:xfrm>
            <a:off x="5162050" y="2276475"/>
            <a:ext cx="1271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 dirty="0">
                <a:solidFill>
                  <a:srgbClr val="1F4E79"/>
                </a:solidFill>
              </a:rPr>
              <a:t>Backend Services</a:t>
            </a:r>
          </a:p>
        </p:txBody>
      </p:sp>
      <p:sp>
        <p:nvSpPr>
          <p:cNvPr id="15" name="node-Database / Storage">
            <a:extLst>
              <a:ext uri="{FF2B5EF4-FFF2-40B4-BE49-F238E27FC236}">
                <a16:creationId xmlns:a16="http://schemas.microsoft.com/office/drawing/2014/main" id="{A1308B74-DC77-45C4-9B6F-DD51C2BA35E7}"/>
              </a:ext>
            </a:extLst>
          </p:cNvPr>
          <p:cNvSpPr>
            <a:spLocks noGrp="1"/>
          </p:cNvSpPr>
          <p:nvPr/>
        </p:nvSpPr>
        <p:spPr>
          <a:xfrm>
            <a:off x="7047750" y="2095500"/>
            <a:ext cx="1500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4DC625-A1AB-437B-80C5-58754B800761}"/>
              </a:ext>
            </a:extLst>
          </p:cNvPr>
          <p:cNvSpPr>
            <a:spLocks noGrp="1"/>
          </p:cNvSpPr>
          <p:nvPr/>
        </p:nvSpPr>
        <p:spPr>
          <a:xfrm>
            <a:off x="7162050" y="2333625"/>
            <a:ext cx="1271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Database / Storage</a:t>
            </a:r>
          </a:p>
        </p:txBody>
      </p:sp>
      <p:sp>
        <p:nvSpPr>
          <p:cNvPr id="17" name="node-Analytics + Monitoring">
            <a:extLst>
              <a:ext uri="{FF2B5EF4-FFF2-40B4-BE49-F238E27FC236}">
                <a16:creationId xmlns:a16="http://schemas.microsoft.com/office/drawing/2014/main" id="{4380B6FE-32B1-44A0-97E0-A5D51527F4B7}"/>
              </a:ext>
            </a:extLst>
          </p:cNvPr>
          <p:cNvSpPr>
            <a:spLocks noGrp="1"/>
          </p:cNvSpPr>
          <p:nvPr/>
        </p:nvSpPr>
        <p:spPr>
          <a:xfrm>
            <a:off x="5047750" y="3714750"/>
            <a:ext cx="150000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2F669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B8DB00-1377-461E-8F1E-77DB71A53E11}"/>
              </a:ext>
            </a:extLst>
          </p:cNvPr>
          <p:cNvSpPr>
            <a:spLocks noGrp="1"/>
          </p:cNvSpPr>
          <p:nvPr/>
        </p:nvSpPr>
        <p:spPr>
          <a:xfrm>
            <a:off x="5162050" y="3952875"/>
            <a:ext cx="1271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Analytics + Monitoring</a:t>
            </a:r>
          </a:p>
        </p:txBody>
      </p:sp>
      <p:sp>
        <p:nvSpPr>
          <p:cNvPr id="19" name="connector-0">
            <a:extLst>
              <a:ext uri="{FF2B5EF4-FFF2-40B4-BE49-F238E27FC236}">
                <a16:creationId xmlns:a16="http://schemas.microsoft.com/office/drawing/2014/main" id="{160F1515-0328-4EC6-9B05-EC27A316917E}"/>
              </a:ext>
            </a:extLst>
          </p:cNvPr>
          <p:cNvSpPr>
            <a:spLocks noGrp="1"/>
          </p:cNvSpPr>
          <p:nvPr/>
        </p:nvSpPr>
        <p:spPr>
          <a:xfrm>
            <a:off x="2547750" y="2495550"/>
            <a:ext cx="500000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connector-1">
            <a:extLst>
              <a:ext uri="{FF2B5EF4-FFF2-40B4-BE49-F238E27FC236}">
                <a16:creationId xmlns:a16="http://schemas.microsoft.com/office/drawing/2014/main" id="{45889F11-5C3A-42C8-AFEF-DC1C97A80214}"/>
              </a:ext>
            </a:extLst>
          </p:cNvPr>
          <p:cNvSpPr>
            <a:spLocks noGrp="1"/>
          </p:cNvSpPr>
          <p:nvPr/>
        </p:nvSpPr>
        <p:spPr>
          <a:xfrm>
            <a:off x="4547750" y="2495550"/>
            <a:ext cx="500000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connector-2">
            <a:extLst>
              <a:ext uri="{FF2B5EF4-FFF2-40B4-BE49-F238E27FC236}">
                <a16:creationId xmlns:a16="http://schemas.microsoft.com/office/drawing/2014/main" id="{ECD5CB34-B648-4051-B6F5-E14E391EDDB3}"/>
              </a:ext>
            </a:extLst>
          </p:cNvPr>
          <p:cNvSpPr>
            <a:spLocks noGrp="1"/>
          </p:cNvSpPr>
          <p:nvPr/>
        </p:nvSpPr>
        <p:spPr>
          <a:xfrm>
            <a:off x="6547750" y="2495550"/>
            <a:ext cx="500000" cy="190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connector-3">
            <a:extLst>
              <a:ext uri="{FF2B5EF4-FFF2-40B4-BE49-F238E27FC236}">
                <a16:creationId xmlns:a16="http://schemas.microsoft.com/office/drawing/2014/main" id="{F9B09679-850F-42B6-9A08-BC04ACAFDB83}"/>
              </a:ext>
            </a:extLst>
          </p:cNvPr>
          <p:cNvSpPr>
            <a:spLocks noGrp="1"/>
          </p:cNvSpPr>
          <p:nvPr/>
        </p:nvSpPr>
        <p:spPr>
          <a:xfrm>
            <a:off x="5788225" y="2895600"/>
            <a:ext cx="19050" cy="81915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3697CD-AA55-4D07-A30B-D5EE0D164162}"/>
              </a:ext>
            </a:extLst>
          </p:cNvPr>
          <p:cNvSpPr>
            <a:spLocks noGrp="1"/>
          </p:cNvSpPr>
          <p:nvPr/>
        </p:nvSpPr>
        <p:spPr>
          <a:xfrm>
            <a:off x="5047750" y="1733550"/>
            <a:ext cx="1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334155"/>
                </a:solidFill>
              </a:defRPr>
            </a:pPr>
            <a:r>
              <a:rPr sz="1125" b="1">
                <a:solidFill>
                  <a:srgbClr val="334155"/>
                </a:solidFill>
              </a:rPr>
              <a:t>Scaling point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15091E-3DB7-4057-83B8-81F6CE217763}"/>
              </a:ext>
            </a:extLst>
          </p:cNvPr>
          <p:cNvSpPr>
            <a:spLocks noGrp="1"/>
          </p:cNvSpPr>
          <p:nvPr/>
        </p:nvSpPr>
        <p:spPr>
          <a:xfrm>
            <a:off x="3162050" y="4667250"/>
            <a:ext cx="550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0">
                <a:solidFill>
                  <a:srgbClr val="64748B"/>
                </a:solidFill>
              </a:defRPr>
            </a:pPr>
            <a:r>
              <a:rPr sz="1125" b="0" dirty="0">
                <a:solidFill>
                  <a:srgbClr val="64748B"/>
                </a:solidFill>
              </a:rPr>
              <a:t>Security boundary</a:t>
            </a:r>
          </a:p>
        </p:txBody>
      </p:sp>
      <p:sp>
        <p:nvSpPr>
          <p:cNvPr id="25" name="security-line">
            <a:extLst>
              <a:ext uri="{FF2B5EF4-FFF2-40B4-BE49-F238E27FC236}">
                <a16:creationId xmlns:a16="http://schemas.microsoft.com/office/drawing/2014/main" id="{2607C141-1BAC-4641-92F6-D9A95D5BCC4D}"/>
              </a:ext>
            </a:extLst>
          </p:cNvPr>
          <p:cNvSpPr>
            <a:spLocks noGrp="1"/>
          </p:cNvSpPr>
          <p:nvPr/>
        </p:nvSpPr>
        <p:spPr>
          <a:xfrm>
            <a:off x="2857250" y="3333750"/>
            <a:ext cx="5881000" cy="19050"/>
          </a:xfrm>
          <a:prstGeom prst="rect">
            <a:avLst/>
          </a:prstGeom>
          <a:solidFill>
            <a:srgbClr val="B7C9D9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Presentation Points-panel">
            <a:extLst>
              <a:ext uri="{FF2B5EF4-FFF2-40B4-BE49-F238E27FC236}">
                <a16:creationId xmlns:a16="http://schemas.microsoft.com/office/drawing/2014/main" id="{33D0CD2A-25EE-4F01-997F-C943CE40CCD4}"/>
              </a:ext>
            </a:extLst>
          </p:cNvPr>
          <p:cNvSpPr>
            <a:spLocks noGrp="1"/>
          </p:cNvSpPr>
          <p:nvPr/>
        </p:nvSpPr>
        <p:spPr>
          <a:xfrm>
            <a:off x="8858250" y="1581150"/>
            <a:ext cx="2381250" cy="3200400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7" name="Presentation Points-bar">
            <a:extLst>
              <a:ext uri="{FF2B5EF4-FFF2-40B4-BE49-F238E27FC236}">
                <a16:creationId xmlns:a16="http://schemas.microsoft.com/office/drawing/2014/main" id="{D7F8F7F5-A99D-4D11-9335-59920878602A}"/>
              </a:ext>
            </a:extLst>
          </p:cNvPr>
          <p:cNvSpPr>
            <a:spLocks noGrp="1"/>
          </p:cNvSpPr>
          <p:nvPr/>
        </p:nvSpPr>
        <p:spPr>
          <a:xfrm>
            <a:off x="8858250" y="1581150"/>
            <a:ext cx="2381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6A26BB-3599-41AF-9C67-EA8C283BA1C9}"/>
              </a:ext>
            </a:extLst>
          </p:cNvPr>
          <p:cNvSpPr>
            <a:spLocks noGrp="1"/>
          </p:cNvSpPr>
          <p:nvPr/>
        </p:nvSpPr>
        <p:spPr>
          <a:xfrm>
            <a:off x="9029700" y="177165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Presentation Points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01215E2-E3FF-4B0F-AE6F-7ED91E6AD59D}"/>
              </a:ext>
            </a:extLst>
          </p:cNvPr>
          <p:cNvSpPr>
            <a:spLocks noGrp="1"/>
          </p:cNvSpPr>
          <p:nvPr/>
        </p:nvSpPr>
        <p:spPr>
          <a:xfrm>
            <a:off x="9029700" y="2171700"/>
            <a:ext cx="23285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Request path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API role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Compute choice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Database and storage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Monitoring and security</a:t>
            </a:r>
          </a:p>
          <a:p>
            <a:pPr marL="285750" indent="-285750">
              <a:buFont typeface="Wingdings" panose="05000000000000000000" pitchFamily="2" charset="2"/>
              <a:buChar char="Ø"/>
              <a:defRPr sz="1350" b="0">
                <a:solidFill>
                  <a:srgbClr val="172033"/>
                </a:solidFill>
              </a:defRPr>
            </a:pPr>
            <a:r>
              <a:rPr sz="1350" b="0" dirty="0">
                <a:solidFill>
                  <a:srgbClr val="172033"/>
                </a:solidFill>
              </a:rPr>
              <a:t>Scaling point</a:t>
            </a:r>
          </a:p>
        </p:txBody>
      </p:sp>
    </p:spTree>
    <p:extLst>
      <p:ext uri="{BB962C8B-B14F-4D97-AF65-F5344CB8AC3E}">
        <p14:creationId xmlns:p14="http://schemas.microsoft.com/office/powerpoint/2010/main" val="196551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E73E8211-DA2A-43AB-911C-32A8E679AC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F08F5DAD-D39C-4DDD-A72E-B8A153A7F6A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D4BF307-B1AE-456D-ADEC-6420F0E5033C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6C4318-C5C0-494C-A6DF-3A32B83D8CD7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05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515E3FBE-FCCC-46DD-9B70-5C198AB88D1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Cloud Service Model Responsibility Matrix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62756C12-5071-4899-B869-07422F60C05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Each service model defines what we control and what cloud manages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E8AE18-B094-4A00-AA00-D422FDB41A47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matrix-h-0">
            <a:extLst>
              <a:ext uri="{FF2B5EF4-FFF2-40B4-BE49-F238E27FC236}">
                <a16:creationId xmlns:a16="http://schemas.microsoft.com/office/drawing/2014/main" id="{A229115E-24C9-4616-91FD-8FB68CAC5CEB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CEFBDF-85FD-4B9C-AA77-541DCA326CD3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1562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Service area</a:t>
            </a:r>
          </a:p>
        </p:txBody>
      </p:sp>
      <p:sp>
        <p:nvSpPr>
          <p:cNvPr id="11" name="matrix-h-1">
            <a:extLst>
              <a:ext uri="{FF2B5EF4-FFF2-40B4-BE49-F238E27FC236}">
                <a16:creationId xmlns:a16="http://schemas.microsoft.com/office/drawing/2014/main" id="{315036C7-9B5B-48EB-A55E-416B796D663F}"/>
              </a:ext>
            </a:extLst>
          </p:cNvPr>
          <p:cNvSpPr>
            <a:spLocks noGrp="1"/>
          </p:cNvSpPr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4AA9BF-76AF-400A-8020-A67283193921}"/>
              </a:ext>
            </a:extLst>
          </p:cNvPr>
          <p:cNvSpPr>
            <a:spLocks noGrp="1"/>
          </p:cNvSpPr>
          <p:nvPr/>
        </p:nvSpPr>
        <p:spPr>
          <a:xfrm>
            <a:off x="2514600" y="1971675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3" name="matrix-h-2">
            <a:extLst>
              <a:ext uri="{FF2B5EF4-FFF2-40B4-BE49-F238E27FC236}">
                <a16:creationId xmlns:a16="http://schemas.microsoft.com/office/drawing/2014/main" id="{4CB7D827-DE4B-40FE-B471-038FC4C74869}"/>
              </a:ext>
            </a:extLst>
          </p:cNvPr>
          <p:cNvSpPr>
            <a:spLocks noGrp="1"/>
          </p:cNvSpPr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F3AB9-42A2-43E4-9E55-3CA75C693C5B}"/>
              </a:ext>
            </a:extLst>
          </p:cNvPr>
          <p:cNvSpPr>
            <a:spLocks noGrp="1"/>
          </p:cNvSpPr>
          <p:nvPr/>
        </p:nvSpPr>
        <p:spPr>
          <a:xfrm>
            <a:off x="3657600" y="1971675"/>
            <a:ext cx="2133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Provider manages</a:t>
            </a:r>
          </a:p>
        </p:txBody>
      </p:sp>
      <p:sp>
        <p:nvSpPr>
          <p:cNvPr id="15" name="matrix-h-3">
            <a:extLst>
              <a:ext uri="{FF2B5EF4-FFF2-40B4-BE49-F238E27FC236}">
                <a16:creationId xmlns:a16="http://schemas.microsoft.com/office/drawing/2014/main" id="{4A3014B9-845A-4978-8212-36CC6DD4EFFD}"/>
              </a:ext>
            </a:extLst>
          </p:cNvPr>
          <p:cNvSpPr>
            <a:spLocks noGrp="1"/>
          </p:cNvSpPr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4649C8-C4E0-46EC-B2C2-38689DD684BF}"/>
              </a:ext>
            </a:extLst>
          </p:cNvPr>
          <p:cNvSpPr>
            <a:spLocks noGrp="1"/>
          </p:cNvSpPr>
          <p:nvPr/>
        </p:nvSpPr>
        <p:spPr>
          <a:xfrm>
            <a:off x="5943600" y="1971675"/>
            <a:ext cx="2228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Student team manages</a:t>
            </a:r>
          </a:p>
        </p:txBody>
      </p:sp>
      <p:sp>
        <p:nvSpPr>
          <p:cNvPr id="17" name="matrix-h-4">
            <a:extLst>
              <a:ext uri="{FF2B5EF4-FFF2-40B4-BE49-F238E27FC236}">
                <a16:creationId xmlns:a16="http://schemas.microsoft.com/office/drawing/2014/main" id="{71ADDB46-5E42-4E6E-BC74-3A55885B7E91}"/>
              </a:ext>
            </a:extLst>
          </p:cNvPr>
          <p:cNvSpPr>
            <a:spLocks noGrp="1"/>
          </p:cNvSpPr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80CF3B-EC9B-4174-8938-E369A3E8534E}"/>
              </a:ext>
            </a:extLst>
          </p:cNvPr>
          <p:cNvSpPr>
            <a:spLocks noGrp="1"/>
          </p:cNvSpPr>
          <p:nvPr/>
        </p:nvSpPr>
        <p:spPr>
          <a:xfrm>
            <a:off x="8324850" y="1971675"/>
            <a:ext cx="2324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88" b="1">
                <a:solidFill>
                  <a:srgbClr val="FFFFFF"/>
                </a:solidFill>
              </a:defRPr>
            </a:pPr>
            <a:r>
              <a:rPr sz="1088" b="1">
                <a:solidFill>
                  <a:srgbClr val="FFFFFF"/>
                </a:solidFill>
              </a:rPr>
              <a:t>Why this fits</a:t>
            </a:r>
          </a:p>
        </p:txBody>
      </p:sp>
      <p:sp>
        <p:nvSpPr>
          <p:cNvPr id="19" name="matrix-0-0">
            <a:extLst>
              <a:ext uri="{FF2B5EF4-FFF2-40B4-BE49-F238E27FC236}">
                <a16:creationId xmlns:a16="http://schemas.microsoft.com/office/drawing/2014/main" id="{2A2A6832-5994-4014-92E3-706CDD938579}"/>
              </a:ext>
            </a:extLst>
          </p:cNvPr>
          <p:cNvSpPr>
            <a:spLocks noGrp="1"/>
          </p:cNvSpPr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39A69B-F0D8-4BC9-B394-6625C3DA0A57}"/>
              </a:ext>
            </a:extLst>
          </p:cNvPr>
          <p:cNvSpPr>
            <a:spLocks noGrp="1"/>
          </p:cNvSpPr>
          <p:nvPr/>
        </p:nvSpPr>
        <p:spPr>
          <a:xfrm>
            <a:off x="800100" y="24574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Frontend hosting</a:t>
            </a:r>
          </a:p>
        </p:txBody>
      </p:sp>
      <p:sp>
        <p:nvSpPr>
          <p:cNvPr id="21" name="matrix-0-1">
            <a:extLst>
              <a:ext uri="{FF2B5EF4-FFF2-40B4-BE49-F238E27FC236}">
                <a16:creationId xmlns:a16="http://schemas.microsoft.com/office/drawing/2014/main" id="{AB776307-4DAD-44D5-8AB2-BFAF605F4836}"/>
              </a:ext>
            </a:extLst>
          </p:cNvPr>
          <p:cNvSpPr>
            <a:spLocks noGrp="1"/>
          </p:cNvSpPr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SaaS</a:t>
            </a:r>
          </a:p>
        </p:txBody>
      </p:sp>
      <p:sp>
        <p:nvSpPr>
          <p:cNvPr id="22" name="matrix-0-2">
            <a:extLst>
              <a:ext uri="{FF2B5EF4-FFF2-40B4-BE49-F238E27FC236}">
                <a16:creationId xmlns:a16="http://schemas.microsoft.com/office/drawing/2014/main" id="{E7F2C1EF-15A6-4C7D-A2A2-94AED8863955}"/>
              </a:ext>
            </a:extLst>
          </p:cNvPr>
          <p:cNvSpPr>
            <a:spLocks noGrp="1"/>
          </p:cNvSpPr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Hosting, CDN, uptime</a:t>
            </a:r>
          </a:p>
        </p:txBody>
      </p:sp>
      <p:sp>
        <p:nvSpPr>
          <p:cNvPr id="23" name="matrix-0-3">
            <a:extLst>
              <a:ext uri="{FF2B5EF4-FFF2-40B4-BE49-F238E27FC236}">
                <a16:creationId xmlns:a16="http://schemas.microsoft.com/office/drawing/2014/main" id="{E5B2053C-2515-4B50-9A7B-2B4929F782EA}"/>
              </a:ext>
            </a:extLst>
          </p:cNvPr>
          <p:cNvSpPr>
            <a:spLocks noGrp="1"/>
          </p:cNvSpPr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UI code, content updates</a:t>
            </a:r>
          </a:p>
        </p:txBody>
      </p:sp>
      <p:sp>
        <p:nvSpPr>
          <p:cNvPr id="24" name="matrix-0-4">
            <a:extLst>
              <a:ext uri="{FF2B5EF4-FFF2-40B4-BE49-F238E27FC236}">
                <a16:creationId xmlns:a16="http://schemas.microsoft.com/office/drawing/2014/main" id="{0AE5325C-C4F2-423F-9840-ED64D52197FB}"/>
              </a:ext>
            </a:extLst>
          </p:cNvPr>
          <p:cNvSpPr>
            <a:spLocks noGrp="1"/>
          </p:cNvSpPr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Fast, low-maintenance delivery of the web app</a:t>
            </a:r>
          </a:p>
        </p:txBody>
      </p:sp>
      <p:sp>
        <p:nvSpPr>
          <p:cNvPr id="25" name="matrix-1-0">
            <a:extLst>
              <a:ext uri="{FF2B5EF4-FFF2-40B4-BE49-F238E27FC236}">
                <a16:creationId xmlns:a16="http://schemas.microsoft.com/office/drawing/2014/main" id="{3C965920-8C7D-4CC9-A7B0-C0FB8D77DC1B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5A6833-8B1C-4849-A33E-BBB60C846BCD}"/>
              </a:ext>
            </a:extLst>
          </p:cNvPr>
          <p:cNvSpPr>
            <a:spLocks noGrp="1"/>
          </p:cNvSpPr>
          <p:nvPr/>
        </p:nvSpPr>
        <p:spPr>
          <a:xfrm>
            <a:off x="800100" y="29527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Backend/API</a:t>
            </a:r>
          </a:p>
        </p:txBody>
      </p:sp>
      <p:sp>
        <p:nvSpPr>
          <p:cNvPr id="27" name="matrix-1-1">
            <a:extLst>
              <a:ext uri="{FF2B5EF4-FFF2-40B4-BE49-F238E27FC236}">
                <a16:creationId xmlns:a16="http://schemas.microsoft.com/office/drawing/2014/main" id="{CE12EE63-0772-433D-9232-3660B48D128F}"/>
              </a:ext>
            </a:extLst>
          </p:cNvPr>
          <p:cNvSpPr>
            <a:spLocks noGrp="1"/>
          </p:cNvSpPr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PaaS</a:t>
            </a:r>
          </a:p>
        </p:txBody>
      </p:sp>
      <p:sp>
        <p:nvSpPr>
          <p:cNvPr id="28" name="matrix-1-2">
            <a:extLst>
              <a:ext uri="{FF2B5EF4-FFF2-40B4-BE49-F238E27FC236}">
                <a16:creationId xmlns:a16="http://schemas.microsoft.com/office/drawing/2014/main" id="{0995E668-FBBC-42DC-8DCF-C12CAC6BB584}"/>
              </a:ext>
            </a:extLst>
          </p:cNvPr>
          <p:cNvSpPr>
            <a:spLocks noGrp="1"/>
          </p:cNvSpPr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Runtime, patching, auto-scaling</a:t>
            </a:r>
          </a:p>
        </p:txBody>
      </p:sp>
      <p:sp>
        <p:nvSpPr>
          <p:cNvPr id="29" name="matrix-1-3">
            <a:extLst>
              <a:ext uri="{FF2B5EF4-FFF2-40B4-BE49-F238E27FC236}">
                <a16:creationId xmlns:a16="http://schemas.microsoft.com/office/drawing/2014/main" id="{923A8FDB-1B56-416A-A78C-B411C5D1F8F2}"/>
              </a:ext>
            </a:extLst>
          </p:cNvPr>
          <p:cNvSpPr>
            <a:spLocks noGrp="1"/>
          </p:cNvSpPr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Spring Boot REST API logic</a:t>
            </a:r>
          </a:p>
        </p:txBody>
      </p:sp>
      <p:sp>
        <p:nvSpPr>
          <p:cNvPr id="30" name="matrix-1-4">
            <a:extLst>
              <a:ext uri="{FF2B5EF4-FFF2-40B4-BE49-F238E27FC236}">
                <a16:creationId xmlns:a16="http://schemas.microsoft.com/office/drawing/2014/main" id="{CE9BD42B-A09C-4153-B7F7-9FE2CD063A5F}"/>
              </a:ext>
            </a:extLst>
          </p:cNvPr>
          <p:cNvSpPr>
            <a:spLocks noGrp="1"/>
          </p:cNvSpPr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Team focuses on matching logic, not server upkeep</a:t>
            </a:r>
          </a:p>
        </p:txBody>
      </p:sp>
      <p:sp>
        <p:nvSpPr>
          <p:cNvPr id="31" name="matrix-2-0">
            <a:extLst>
              <a:ext uri="{FF2B5EF4-FFF2-40B4-BE49-F238E27FC236}">
                <a16:creationId xmlns:a16="http://schemas.microsoft.com/office/drawing/2014/main" id="{83DACA9B-6694-4818-A4CF-B5E64656FD9D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34CFC5D-2F34-4DDD-867B-BEBD3F5217C1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Database</a:t>
            </a:r>
          </a:p>
        </p:txBody>
      </p:sp>
      <p:sp>
        <p:nvSpPr>
          <p:cNvPr id="33" name="matrix-2-1">
            <a:extLst>
              <a:ext uri="{FF2B5EF4-FFF2-40B4-BE49-F238E27FC236}">
                <a16:creationId xmlns:a16="http://schemas.microsoft.com/office/drawing/2014/main" id="{9819A267-5E6B-4AED-BB93-7A2231B14A1B}"/>
              </a:ext>
            </a:extLst>
          </p:cNvPr>
          <p:cNvSpPr>
            <a:spLocks noGrp="1"/>
          </p:cNvSpPr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PaaS (AWS RDS)</a:t>
            </a:r>
          </a:p>
        </p:txBody>
      </p:sp>
      <p:sp>
        <p:nvSpPr>
          <p:cNvPr id="34" name="matrix-2-2">
            <a:extLst>
              <a:ext uri="{FF2B5EF4-FFF2-40B4-BE49-F238E27FC236}">
                <a16:creationId xmlns:a16="http://schemas.microsoft.com/office/drawing/2014/main" id="{77FB67FD-11B8-456D-AC64-FD8D023E2A95}"/>
              </a:ext>
            </a:extLst>
          </p:cNvPr>
          <p:cNvSpPr>
            <a:spLocks noGrp="1"/>
          </p:cNvSpPr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Backups, patching, replication</a:t>
            </a:r>
          </a:p>
        </p:txBody>
      </p:sp>
      <p:sp>
        <p:nvSpPr>
          <p:cNvPr id="35" name="matrix-2-3">
            <a:extLst>
              <a:ext uri="{FF2B5EF4-FFF2-40B4-BE49-F238E27FC236}">
                <a16:creationId xmlns:a16="http://schemas.microsoft.com/office/drawing/2014/main" id="{565C4631-32FD-47DA-9B44-5913128A0E33}"/>
              </a:ext>
            </a:extLst>
          </p:cNvPr>
          <p:cNvSpPr>
            <a:spLocks noGrp="1"/>
          </p:cNvSpPr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Schema design, queries</a:t>
            </a:r>
          </a:p>
        </p:txBody>
      </p:sp>
      <p:sp>
        <p:nvSpPr>
          <p:cNvPr id="36" name="matrix-2-4">
            <a:extLst>
              <a:ext uri="{FF2B5EF4-FFF2-40B4-BE49-F238E27FC236}">
                <a16:creationId xmlns:a16="http://schemas.microsoft.com/office/drawing/2014/main" id="{2C2A972E-6F23-4030-93D1-2C69445AD2AC}"/>
              </a:ext>
            </a:extLst>
          </p:cNvPr>
          <p:cNvSpPr>
            <a:spLocks noGrp="1"/>
          </p:cNvSpPr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Managed MySQL cuts database ops overhead</a:t>
            </a:r>
          </a:p>
        </p:txBody>
      </p:sp>
      <p:sp>
        <p:nvSpPr>
          <p:cNvPr id="37" name="matrix-3-0">
            <a:extLst>
              <a:ext uri="{FF2B5EF4-FFF2-40B4-BE49-F238E27FC236}">
                <a16:creationId xmlns:a16="http://schemas.microsoft.com/office/drawing/2014/main" id="{24BF2AEF-12EB-4094-81A3-08D56D49A243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5646109-6E39-4773-B165-1ADD27FC9B72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Storage</a:t>
            </a:r>
          </a:p>
        </p:txBody>
      </p:sp>
      <p:sp>
        <p:nvSpPr>
          <p:cNvPr id="39" name="matrix-3-1">
            <a:extLst>
              <a:ext uri="{FF2B5EF4-FFF2-40B4-BE49-F238E27FC236}">
                <a16:creationId xmlns:a16="http://schemas.microsoft.com/office/drawing/2014/main" id="{C3DA8404-0206-4745-B1CA-5A4EAF55DC7C}"/>
              </a:ext>
            </a:extLst>
          </p:cNvPr>
          <p:cNvSpPr>
            <a:spLocks noGrp="1"/>
          </p:cNvSpPr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IaaS/PaaS (AWS S3)</a:t>
            </a:r>
          </a:p>
        </p:txBody>
      </p:sp>
      <p:sp>
        <p:nvSpPr>
          <p:cNvPr id="40" name="matrix-3-2">
            <a:extLst>
              <a:ext uri="{FF2B5EF4-FFF2-40B4-BE49-F238E27FC236}">
                <a16:creationId xmlns:a16="http://schemas.microsoft.com/office/drawing/2014/main" id="{51B5DBEF-8E4D-468C-A884-3A2BA89FF77B}"/>
              </a:ext>
            </a:extLst>
          </p:cNvPr>
          <p:cNvSpPr>
            <a:spLocks noGrp="1"/>
          </p:cNvSpPr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Durability, redundancy</a:t>
            </a:r>
          </a:p>
        </p:txBody>
      </p:sp>
      <p:sp>
        <p:nvSpPr>
          <p:cNvPr id="41" name="matrix-3-3">
            <a:extLst>
              <a:ext uri="{FF2B5EF4-FFF2-40B4-BE49-F238E27FC236}">
                <a16:creationId xmlns:a16="http://schemas.microsoft.com/office/drawing/2014/main" id="{7D0A1D7F-8EB0-42C7-A599-13E8F2625537}"/>
              </a:ext>
            </a:extLst>
          </p:cNvPr>
          <p:cNvSpPr>
            <a:spLocks noGrp="1"/>
          </p:cNvSpPr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Resume file upload &amp; retrieval</a:t>
            </a:r>
          </a:p>
        </p:txBody>
      </p:sp>
      <p:sp>
        <p:nvSpPr>
          <p:cNvPr id="42" name="matrix-3-4">
            <a:extLst>
              <a:ext uri="{FF2B5EF4-FFF2-40B4-BE49-F238E27FC236}">
                <a16:creationId xmlns:a16="http://schemas.microsoft.com/office/drawing/2014/main" id="{43CFB2A6-3DB4-463F-B10A-97A4D448B020}"/>
              </a:ext>
            </a:extLst>
          </p:cNvPr>
          <p:cNvSpPr>
            <a:spLocks noGrp="1"/>
          </p:cNvSpPr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Cheap, scalable object storage for resumes</a:t>
            </a:r>
          </a:p>
        </p:txBody>
      </p:sp>
      <p:sp>
        <p:nvSpPr>
          <p:cNvPr id="43" name="matrix-4-0">
            <a:extLst>
              <a:ext uri="{FF2B5EF4-FFF2-40B4-BE49-F238E27FC236}">
                <a16:creationId xmlns:a16="http://schemas.microsoft.com/office/drawing/2014/main" id="{AA211760-7F64-49D3-AE24-A6BC4778983E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CC4DD9-E94F-4E6C-A5E5-EEC5282BCD4E}"/>
              </a:ext>
            </a:extLst>
          </p:cNvPr>
          <p:cNvSpPr>
            <a:spLocks noGrp="1"/>
          </p:cNvSpPr>
          <p:nvPr/>
        </p:nvSpPr>
        <p:spPr>
          <a:xfrm>
            <a:off x="800100" y="44386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Monitoring / logs</a:t>
            </a:r>
          </a:p>
        </p:txBody>
      </p:sp>
      <p:sp>
        <p:nvSpPr>
          <p:cNvPr id="45" name="matrix-4-1">
            <a:extLst>
              <a:ext uri="{FF2B5EF4-FFF2-40B4-BE49-F238E27FC236}">
                <a16:creationId xmlns:a16="http://schemas.microsoft.com/office/drawing/2014/main" id="{860FAE59-03EB-410F-96B2-845B85EF52B1}"/>
              </a:ext>
            </a:extLst>
          </p:cNvPr>
          <p:cNvSpPr>
            <a:spLocks noGrp="1"/>
          </p:cNvSpPr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PaaS (CloudWatch)</a:t>
            </a:r>
          </a:p>
        </p:txBody>
      </p:sp>
      <p:sp>
        <p:nvSpPr>
          <p:cNvPr id="46" name="matrix-4-2">
            <a:extLst>
              <a:ext uri="{FF2B5EF4-FFF2-40B4-BE49-F238E27FC236}">
                <a16:creationId xmlns:a16="http://schemas.microsoft.com/office/drawing/2014/main" id="{30955654-3ED8-48CF-8025-E6DE7467ECC2}"/>
              </a:ext>
            </a:extLst>
          </p:cNvPr>
          <p:cNvSpPr>
            <a:spLocks noGrp="1"/>
          </p:cNvSpPr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Infra metrics, log storage</a:t>
            </a:r>
          </a:p>
        </p:txBody>
      </p:sp>
      <p:sp>
        <p:nvSpPr>
          <p:cNvPr id="47" name="matrix-4-3">
            <a:extLst>
              <a:ext uri="{FF2B5EF4-FFF2-40B4-BE49-F238E27FC236}">
                <a16:creationId xmlns:a16="http://schemas.microsoft.com/office/drawing/2014/main" id="{6DBFE25C-B07B-4513-8C93-821D5C3F4D99}"/>
              </a:ext>
            </a:extLst>
          </p:cNvPr>
          <p:cNvSpPr>
            <a:spLocks noGrp="1"/>
          </p:cNvSpPr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Alerts, dashboards</a:t>
            </a:r>
          </a:p>
        </p:txBody>
      </p:sp>
      <p:sp>
        <p:nvSpPr>
          <p:cNvPr id="48" name="matrix-4-4">
            <a:extLst>
              <a:ext uri="{FF2B5EF4-FFF2-40B4-BE49-F238E27FC236}">
                <a16:creationId xmlns:a16="http://schemas.microsoft.com/office/drawing/2014/main" id="{AF409F69-802F-4545-AE66-6D196E74C5CF}"/>
              </a:ext>
            </a:extLst>
          </p:cNvPr>
          <p:cNvSpPr>
            <a:spLocks noGrp="1"/>
          </p:cNvSpPr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Visibility without building a monitoring stack</a:t>
            </a:r>
          </a:p>
        </p:txBody>
      </p:sp>
      <p:sp>
        <p:nvSpPr>
          <p:cNvPr id="49" name="matrix-5-0">
            <a:extLst>
              <a:ext uri="{FF2B5EF4-FFF2-40B4-BE49-F238E27FC236}">
                <a16:creationId xmlns:a16="http://schemas.microsoft.com/office/drawing/2014/main" id="{B339E379-E6AC-4DEA-8F68-736FBBB03969}"/>
              </a:ext>
            </a:extLst>
          </p:cNvPr>
          <p:cNvSpPr>
            <a:spLocks noGrp="1"/>
          </p:cNvSpPr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7C779A0-4A54-4DE3-9F6D-91C63D5FF5EE}"/>
              </a:ext>
            </a:extLst>
          </p:cNvPr>
          <p:cNvSpPr>
            <a:spLocks noGrp="1"/>
          </p:cNvSpPr>
          <p:nvPr/>
        </p:nvSpPr>
        <p:spPr>
          <a:xfrm>
            <a:off x="800100" y="4933950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13" b="1">
                <a:solidFill>
                  <a:srgbClr val="1F4E79"/>
                </a:solidFill>
              </a:defRPr>
            </a:pPr>
            <a:r>
              <a:rPr sz="1013" b="1">
                <a:solidFill>
                  <a:srgbClr val="1F4E79"/>
                </a:solidFill>
              </a:rPr>
              <a:t>Security / IAM</a:t>
            </a:r>
          </a:p>
        </p:txBody>
      </p:sp>
      <p:sp>
        <p:nvSpPr>
          <p:cNvPr id="51" name="matrix-5-1">
            <a:extLst>
              <a:ext uri="{FF2B5EF4-FFF2-40B4-BE49-F238E27FC236}">
                <a16:creationId xmlns:a16="http://schemas.microsoft.com/office/drawing/2014/main" id="{47B889D9-8B45-4829-A303-F81FD6D2B142}"/>
              </a:ext>
            </a:extLst>
          </p:cNvPr>
          <p:cNvSpPr>
            <a:spLocks noGrp="1"/>
          </p:cNvSpPr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IaaS/PaaS (AWS IAM)</a:t>
            </a:r>
          </a:p>
        </p:txBody>
      </p:sp>
      <p:sp>
        <p:nvSpPr>
          <p:cNvPr id="52" name="matrix-5-2">
            <a:extLst>
              <a:ext uri="{FF2B5EF4-FFF2-40B4-BE49-F238E27FC236}">
                <a16:creationId xmlns:a16="http://schemas.microsoft.com/office/drawing/2014/main" id="{3D431073-8F3C-436C-AA00-424BC8DACDC9}"/>
              </a:ext>
            </a:extLst>
          </p:cNvPr>
          <p:cNvSpPr>
            <a:spLocks noGrp="1"/>
          </p:cNvSpPr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Identity infra, encryption at rest</a:t>
            </a:r>
          </a:p>
        </p:txBody>
      </p:sp>
      <p:sp>
        <p:nvSpPr>
          <p:cNvPr id="53" name="matrix-5-3">
            <a:extLst>
              <a:ext uri="{FF2B5EF4-FFF2-40B4-BE49-F238E27FC236}">
                <a16:creationId xmlns:a16="http://schemas.microsoft.com/office/drawing/2014/main" id="{20619562-A8E4-403B-80F2-DED100050713}"/>
              </a:ext>
            </a:extLst>
          </p:cNvPr>
          <p:cNvSpPr>
            <a:spLocks noGrp="1"/>
          </p:cNvSpPr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Roles, policies, JWT auth logic</a:t>
            </a:r>
          </a:p>
        </p:txBody>
      </p:sp>
      <p:sp>
        <p:nvSpPr>
          <p:cNvPr id="54" name="matrix-5-4">
            <a:extLst>
              <a:ext uri="{FF2B5EF4-FFF2-40B4-BE49-F238E27FC236}">
                <a16:creationId xmlns:a16="http://schemas.microsoft.com/office/drawing/2014/main" id="{322EB9B4-C93D-4FB0-BC72-97E0F7EC8268}"/>
              </a:ext>
            </a:extLst>
          </p:cNvPr>
          <p:cNvSpPr>
            <a:spLocks noGrp="1"/>
          </p:cNvSpPr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 wrap="square">
            <a:normAutofit fontScale="97500"/>
          </a:bodyPr>
          <a:lstStyle/>
          <a:p>
            <a:pPr algn="l">
              <a:defRPr sz="950" b="0">
                <a:solidFill>
                  <a:srgbClr val="172033"/>
                </a:solidFill>
              </a:defRPr>
            </a:pPr>
            <a:r>
              <a:rPr sz="950" b="0">
                <a:solidFill>
                  <a:srgbClr val="172033"/>
                </a:solidFill>
              </a:rPr>
              <a:t>Fine-grained access for students vs recruiters</a:t>
            </a:r>
          </a:p>
        </p:txBody>
      </p:sp>
    </p:spTree>
    <p:extLst>
      <p:ext uri="{BB962C8B-B14F-4D97-AF65-F5344CB8AC3E}">
        <p14:creationId xmlns:p14="http://schemas.microsoft.com/office/powerpoint/2010/main" val="25965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490435BE-16F9-461B-9144-348E8B210A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D3D32F10-ADC2-4C1B-8DBD-D1D1F4E77FD5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73394C-55A1-4C46-9928-17FA238765AF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00FBDD-EA7A-44FA-AB80-B1E44799E674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06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5E2E8BF4-729E-4440-BBB6-DEEE48B9CB9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Data Flow and Analytics Pipeline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A784D230-DA62-482F-9424-BEA84108C0F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The product data moves from user activity to useful insight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97C1B9-192C-4248-95B4-D8D75A02786B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flow-0">
            <a:extLst>
              <a:ext uri="{FF2B5EF4-FFF2-40B4-BE49-F238E27FC236}">
                <a16:creationId xmlns:a16="http://schemas.microsoft.com/office/drawing/2014/main" id="{59A983DF-25EF-430F-9EB2-451803C6BF23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25A595-EDC2-4FC0-BF0B-1C6A3050E275}"/>
              </a:ext>
            </a:extLst>
          </p:cNvPr>
          <p:cNvSpPr>
            <a:spLocks noGrp="1"/>
          </p:cNvSpPr>
          <p:nvPr/>
        </p:nvSpPr>
        <p:spPr>
          <a:xfrm>
            <a:off x="12001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Collect</a:t>
            </a:r>
          </a:p>
        </p:txBody>
      </p:sp>
      <p:sp>
        <p:nvSpPr>
          <p:cNvPr id="11" name="flow-line-0">
            <a:extLst>
              <a:ext uri="{FF2B5EF4-FFF2-40B4-BE49-F238E27FC236}">
                <a16:creationId xmlns:a16="http://schemas.microsoft.com/office/drawing/2014/main" id="{9054445D-59BB-4415-B747-A5304F190ECA}"/>
              </a:ext>
            </a:extLst>
          </p:cNvPr>
          <p:cNvSpPr>
            <a:spLocks noGrp="1"/>
          </p:cNvSpPr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flow-1">
            <a:extLst>
              <a:ext uri="{FF2B5EF4-FFF2-40B4-BE49-F238E27FC236}">
                <a16:creationId xmlns:a16="http://schemas.microsoft.com/office/drawing/2014/main" id="{F8A7DBA2-55D1-46B1-AB5D-7D296DE63AC4}"/>
              </a:ext>
            </a:extLst>
          </p:cNvPr>
          <p:cNvSpPr>
            <a:spLocks noGrp="1"/>
          </p:cNvSpPr>
          <p:nvPr/>
        </p:nvSpPr>
        <p:spPr>
          <a:xfrm>
            <a:off x="30480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966FD8-E1A0-4DE5-AE42-45AF7E82BA4B}"/>
              </a:ext>
            </a:extLst>
          </p:cNvPr>
          <p:cNvSpPr>
            <a:spLocks noGrp="1"/>
          </p:cNvSpPr>
          <p:nvPr/>
        </p:nvSpPr>
        <p:spPr>
          <a:xfrm>
            <a:off x="31813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Ingest</a:t>
            </a:r>
          </a:p>
        </p:txBody>
      </p:sp>
      <p:sp>
        <p:nvSpPr>
          <p:cNvPr id="14" name="flow-line-1">
            <a:extLst>
              <a:ext uri="{FF2B5EF4-FFF2-40B4-BE49-F238E27FC236}">
                <a16:creationId xmlns:a16="http://schemas.microsoft.com/office/drawing/2014/main" id="{18A32F96-72A7-4173-B050-FDC783A51F2B}"/>
              </a:ext>
            </a:extLst>
          </p:cNvPr>
          <p:cNvSpPr>
            <a:spLocks noGrp="1"/>
          </p:cNvSpPr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flow-2">
            <a:extLst>
              <a:ext uri="{FF2B5EF4-FFF2-40B4-BE49-F238E27FC236}">
                <a16:creationId xmlns:a16="http://schemas.microsoft.com/office/drawing/2014/main" id="{A1A4D867-8EE0-4A2E-880E-A67E656B9721}"/>
              </a:ext>
            </a:extLst>
          </p:cNvPr>
          <p:cNvSpPr>
            <a:spLocks noGrp="1"/>
          </p:cNvSpPr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C1ED43-8E89-4B22-8DE1-D29792BEBFED}"/>
              </a:ext>
            </a:extLst>
          </p:cNvPr>
          <p:cNvSpPr>
            <a:spLocks noGrp="1"/>
          </p:cNvSpPr>
          <p:nvPr/>
        </p:nvSpPr>
        <p:spPr>
          <a:xfrm>
            <a:off x="51625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Store</a:t>
            </a:r>
          </a:p>
        </p:txBody>
      </p:sp>
      <p:sp>
        <p:nvSpPr>
          <p:cNvPr id="17" name="flow-line-2">
            <a:extLst>
              <a:ext uri="{FF2B5EF4-FFF2-40B4-BE49-F238E27FC236}">
                <a16:creationId xmlns:a16="http://schemas.microsoft.com/office/drawing/2014/main" id="{043ACE97-A0F5-47B1-BD21-F489AB8C68C0}"/>
              </a:ext>
            </a:extLst>
          </p:cNvPr>
          <p:cNvSpPr>
            <a:spLocks noGrp="1"/>
          </p:cNvSpPr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flow-3">
            <a:extLst>
              <a:ext uri="{FF2B5EF4-FFF2-40B4-BE49-F238E27FC236}">
                <a16:creationId xmlns:a16="http://schemas.microsoft.com/office/drawing/2014/main" id="{3102D06E-CAC1-4305-A435-57DBBC3EC507}"/>
              </a:ext>
            </a:extLst>
          </p:cNvPr>
          <p:cNvSpPr>
            <a:spLocks noGrp="1"/>
          </p:cNvSpPr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CB1F1F-EADF-4759-8AC1-8207B43DFA09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Process</a:t>
            </a:r>
          </a:p>
        </p:txBody>
      </p:sp>
      <p:sp>
        <p:nvSpPr>
          <p:cNvPr id="20" name="flow-line-3">
            <a:extLst>
              <a:ext uri="{FF2B5EF4-FFF2-40B4-BE49-F238E27FC236}">
                <a16:creationId xmlns:a16="http://schemas.microsoft.com/office/drawing/2014/main" id="{C4B97E98-5C2C-4DBD-AB30-5B8F7B3048B1}"/>
              </a:ext>
            </a:extLst>
          </p:cNvPr>
          <p:cNvSpPr>
            <a:spLocks noGrp="1"/>
          </p:cNvSpPr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flow-4">
            <a:extLst>
              <a:ext uri="{FF2B5EF4-FFF2-40B4-BE49-F238E27FC236}">
                <a16:creationId xmlns:a16="http://schemas.microsoft.com/office/drawing/2014/main" id="{3C79B7D0-9CAB-4B9B-AC74-A54B52622569}"/>
              </a:ext>
            </a:extLst>
          </p:cNvPr>
          <p:cNvSpPr>
            <a:spLocks noGrp="1"/>
          </p:cNvSpPr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8B96D5-F452-468F-9243-AD810193E49C}"/>
              </a:ext>
            </a:extLst>
          </p:cNvPr>
          <p:cNvSpPr>
            <a:spLocks noGrp="1"/>
          </p:cNvSpPr>
          <p:nvPr/>
        </p:nvSpPr>
        <p:spPr>
          <a:xfrm>
            <a:off x="9124950" y="1905000"/>
            <a:ext cx="1085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F4E79"/>
                </a:solidFill>
              </a:defRPr>
            </a:pPr>
            <a:r>
              <a:rPr sz="1350" b="1">
                <a:solidFill>
                  <a:srgbClr val="1F4E79"/>
                </a:solidFill>
              </a:rPr>
              <a:t>Visualize</a:t>
            </a:r>
          </a:p>
        </p:txBody>
      </p:sp>
      <p:sp>
        <p:nvSpPr>
          <p:cNvPr id="23" name="Data Requirements-panel">
            <a:extLst>
              <a:ext uri="{FF2B5EF4-FFF2-40B4-BE49-F238E27FC236}">
                <a16:creationId xmlns:a16="http://schemas.microsoft.com/office/drawing/2014/main" id="{0F14B31E-3381-4009-9103-CD77641C4A97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4" name="Data Requirements-bar">
            <a:extLst>
              <a:ext uri="{FF2B5EF4-FFF2-40B4-BE49-F238E27FC236}">
                <a16:creationId xmlns:a16="http://schemas.microsoft.com/office/drawing/2014/main" id="{20441772-C8B8-4917-BE73-D4CAAD95AA6C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AF46A62-0F3B-44B1-970D-850F2A452A25}"/>
              </a:ext>
            </a:extLst>
          </p:cNvPr>
          <p:cNvSpPr>
            <a:spLocks noGrp="1"/>
          </p:cNvSpPr>
          <p:nvPr/>
        </p:nvSpPr>
        <p:spPr>
          <a:xfrm>
            <a:off x="8953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Data Requirements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365F3E-6456-4FBD-97D1-EB52686A22D7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Uploaded resume files (PDF), job description text, and user account/session data.</a:t>
            </a:r>
          </a:p>
        </p:txBody>
      </p:sp>
      <p:sp>
        <p:nvSpPr>
          <p:cNvPr id="27" name="Analytics Requirement-panel">
            <a:extLst>
              <a:ext uri="{FF2B5EF4-FFF2-40B4-BE49-F238E27FC236}">
                <a16:creationId xmlns:a16="http://schemas.microsoft.com/office/drawing/2014/main" id="{A861FFB3-AC08-4C2F-8C75-811B1C88DDA6}"/>
              </a:ext>
            </a:extLst>
          </p:cNvPr>
          <p:cNvSpPr>
            <a:spLocks noGrp="1"/>
          </p:cNvSpPr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8" name="Analytics Requirement-bar">
            <a:extLst>
              <a:ext uri="{FF2B5EF4-FFF2-40B4-BE49-F238E27FC236}">
                <a16:creationId xmlns:a16="http://schemas.microsoft.com/office/drawing/2014/main" id="{3157AA82-1D79-4D36-9B7D-1320B25E9F44}"/>
              </a:ext>
            </a:extLst>
          </p:cNvPr>
          <p:cNvSpPr>
            <a:spLocks noGrp="1"/>
          </p:cNvSpPr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4E1DC4-8F5F-4913-96E4-E3B63BA513C8}"/>
              </a:ext>
            </a:extLst>
          </p:cNvPr>
          <p:cNvSpPr>
            <a:spLocks noGrp="1"/>
          </p:cNvSpPr>
          <p:nvPr/>
        </p:nvSpPr>
        <p:spPr>
          <a:xfrm>
            <a:off x="453390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Analytics Requirement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D9E2CB7-A08F-4DF5-A69C-E118394EF6B6}"/>
              </a:ext>
            </a:extLst>
          </p:cNvPr>
          <p:cNvSpPr>
            <a:spLocks noGrp="1"/>
          </p:cNvSpPr>
          <p:nvPr/>
        </p:nvSpPr>
        <p:spPr>
          <a:xfrm>
            <a:off x="453390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Resume match score, missing-skill report, job recommendations, and a candidate performance dashboard.</a:t>
            </a:r>
          </a:p>
        </p:txBody>
      </p:sp>
      <p:sp>
        <p:nvSpPr>
          <p:cNvPr id="31" name="Proof Required-panel">
            <a:extLst>
              <a:ext uri="{FF2B5EF4-FFF2-40B4-BE49-F238E27FC236}">
                <a16:creationId xmlns:a16="http://schemas.microsoft.com/office/drawing/2014/main" id="{FEA050D7-4443-45CB-8E55-FD51DFE28948}"/>
              </a:ext>
            </a:extLst>
          </p:cNvPr>
          <p:cNvSpPr>
            <a:spLocks noGrp="1"/>
          </p:cNvSpPr>
          <p:nvPr/>
        </p:nvSpPr>
        <p:spPr>
          <a:xfrm>
            <a:off x="80010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32" name="Proof Required-bar">
            <a:extLst>
              <a:ext uri="{FF2B5EF4-FFF2-40B4-BE49-F238E27FC236}">
                <a16:creationId xmlns:a16="http://schemas.microsoft.com/office/drawing/2014/main" id="{A2840EDC-E927-4F99-BB20-4231A322C93F}"/>
              </a:ext>
            </a:extLst>
          </p:cNvPr>
          <p:cNvSpPr>
            <a:spLocks noGrp="1"/>
          </p:cNvSpPr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09E2CC-7A3A-4580-8621-28B5D294DC66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Proof Required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272BC5B-C57C-4720-9DF1-AD6F483A9BC5}"/>
              </a:ext>
            </a:extLst>
          </p:cNvPr>
          <p:cNvSpPr>
            <a:spLocks noGrp="1"/>
          </p:cNvSpPr>
          <p:nvPr/>
        </p:nvSpPr>
        <p:spPr>
          <a:xfrm>
            <a:off x="8172450" y="3829050"/>
            <a:ext cx="28003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Sample resume + job description in, match score and skill-gap list out, with one clear insight generated.</a:t>
            </a:r>
          </a:p>
        </p:txBody>
      </p:sp>
    </p:spTree>
    <p:extLst>
      <p:ext uri="{BB962C8B-B14F-4D97-AF65-F5344CB8AC3E}">
        <p14:creationId xmlns:p14="http://schemas.microsoft.com/office/powerpoint/2010/main" val="50689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3A77E155-AA61-4441-96A8-F3DF103513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23D32FEB-6865-4151-A78E-2CD9B2427EFC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B4881F-BB19-4417-B5DC-FA80E5BE475D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10057-90FC-4C9C-A597-26116A7CEBCD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07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BB9C88C1-065F-48D7-9109-5C769A84888A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Python / AI Module Integration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23236DBD-2870-47F1-A6D1-519BBFB9FC0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Python or AI adds intelligence where the product needs 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D525D2-583E-43D2-8B2E-D33B098B757E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4DED0DB8-D08A-414F-877D-87C627F89A6C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1E74EBE4-F91B-4BD2-A53A-A368DF2FEA83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EF9AD8-F62C-4A95-A4F5-4B12C5E47F51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Python 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F280A5-E1FE-4725-9611-EE07B0570C35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Parses resumes, extracts skills, and predicts a match score against a job description using NLP.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8C640DC4-F5BA-4296-8EC6-32E5C678A120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0158330C-EE7C-4461-8FDA-D1AB11F89CB8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DCF643-F7D0-45DF-836A-C301804572F3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Input and Output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E21F66-068F-456B-AE23-A7F00D62584E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Input: resume PDF + job description text. Output: match %, missing skills, and improvement suggestions.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F8A14566-57B5-4DAD-A594-20B6FBC6F6C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AC9644CC-9AB0-4EE9-AB8C-E95134E0E656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B36268-AEC7-43F2-A772-ABABCF1BA2A7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Execution Point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308C78-4763-44CE-ACEB-4CD16275C5A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Python service (spaCy, NLTK, scikit-learn) exposed as a REST API endpoint called by the Spring Boot backend.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B6DA6401-CC23-4CE1-A62F-95945AC503B6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1C7559D1-D007-4454-AC69-1C468035504D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EF101C-0146-4BA7-8156-04E109C06956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Product Value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2A8EE3-CBE1-4A61-9259-6F7F4B0A22C3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Turns hours of manual resume screening into an instant, objective match score and actionable skill-gap feedback.</a:t>
            </a:r>
          </a:p>
        </p:txBody>
      </p:sp>
    </p:spTree>
    <p:extLst>
      <p:ext uri="{BB962C8B-B14F-4D97-AF65-F5344CB8AC3E}">
        <p14:creationId xmlns:p14="http://schemas.microsoft.com/office/powerpoint/2010/main" val="283908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ABC2BFBE-9EE9-4E14-936D-F4E61ACEFD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E0FB4462-59D4-4617-A99A-7B3C2F5B2ADE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C96ADD-1D5E-44DC-8146-4252F03D2FAA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A268A-3E62-466E-AB81-9ACF2558BB89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08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E4FE0825-71A3-4FFF-8C47-970CB576EE6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Security, Scalability, Privacy and Cost Design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BD7D8447-81D5-4430-8608-2E6EE3CCAC3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Security, scale, privacy and cost shape the final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F2D878-9EDF-4BFB-B721-808083B29896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55830AD0-F6BF-481E-B057-5BC56ABADC01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E7A9B6CD-BBD2-422C-998A-BE2F5F085C54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3BC80C-4926-4297-AC8A-832F5E240FC7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9F09A6-E567-4FB4-B8BD-7C659BB2B8A8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JWT-based login, HTTPS everywhere, encrypted passwords, role-based access for students vs recruiters.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102D1E28-49E4-4DCA-9E7E-E29C78F75303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D835EAB4-9ECB-4779-BFE4-1EC7E6A0319B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17897F-12BC-435F-9373-92FD25B0E7AA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Privacy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125AC6-203F-45BD-90F9-B2AA6B835BB1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Resume data treated as sensitive; access limited to the owning user and authorized recruiters only.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3C0D61DB-3283-4852-9852-BBF0FCA6D1F2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3EA5F0FF-307A-499A-9286-2667325EDA23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2A4B0F-85A7-4C43-87B1-C3EA44F17398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Scalability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5200F1-B926-4497-8734-4062389E731D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Load balancer + EC2 auto-scaling handle traffic spikes without redesigning the app.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854240E3-4C53-4276-8BAE-0308F7D390F0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F1B6917B-0A54-4D60-A793-AC69A20537A2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859527-8420-42E6-8473-6A63D7C79050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Cost Awareness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09A1041-5AC1-4E27-968A-9F573908DEF9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Pay-as-you-go pricing, AWS Free Tier, serverless Lambda, and S3 storage keep running costs low.</a:t>
            </a:r>
          </a:p>
        </p:txBody>
      </p:sp>
    </p:spTree>
    <p:extLst>
      <p:ext uri="{BB962C8B-B14F-4D97-AF65-F5344CB8AC3E}">
        <p14:creationId xmlns:p14="http://schemas.microsoft.com/office/powerpoint/2010/main" val="2045647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8B3E1008-39B5-4A25-9488-EB48786596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F751E5CA-B074-42F1-A386-9D0F5711B637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30CBCA2-0516-45B8-A833-96467A31971F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69315C-919B-45E0-B35C-5D0BD57D2286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09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06175D69-6F3D-4AD0-90C5-265FB06E7A2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Implementation Stack and Deployment Evidence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51D1C179-41A3-4ACE-BDFA-CAEA02AE5B9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implementation stack shows how the design will be built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76273D-A5C4-4C0E-AA7E-61F42C05A1C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698549BF-3C50-4AAB-9C74-FA1D28527D79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72D277FE-086C-47EE-85C7-F7F6B951D892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4A63FB-B5E9-4EFF-B730-B6C6BFB934FF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Mobile / Web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AF93FE-C89D-4BED-807C-DC9084F7BDBB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HTML, CSS, and JavaScript web frontend for resume upload and dashboard.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26E5BAE0-418B-4A3D-AA03-E7E8BE1740E8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5C390268-71A8-4F9D-8C03-5E342F477117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0D9CF9-1B3C-4D05-B46B-9E16FD1151B5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Cloud Services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6FF704-0DAE-4A78-984C-3B8289E02D52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AWS EC2 (compute), RDS (MySQL database), S3 (resume storage), API Gateway, and Lambda.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EA679B24-C089-41F2-BEA1-D3482A9832DD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F7A08555-7BD1-42A9-A68B-52CBBB3B5388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1ED649-29E9-40F2-B7D9-57E7EB5643F3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0B3C68-EB8A-4FCF-888C-0132413460EB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GitHub repository, working API endpoints, AWS console dashboard, and a deployed demo URL.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13E380AF-E56F-40BB-94FC-D85EACD7C439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66505130-7D44-4F50-9FD1-F83EF6C02DA6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D7F7C1-347F-4C1D-8EB9-A61CC5CB13D0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Version Control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C09558-B0CE-439C-A804-3E5252B753C1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Feature-branch commits with a clear README covering setup, architecture, and API usage.</a:t>
            </a:r>
          </a:p>
        </p:txBody>
      </p:sp>
    </p:spTree>
    <p:extLst>
      <p:ext uri="{BB962C8B-B14F-4D97-AF65-F5344CB8AC3E}">
        <p14:creationId xmlns:p14="http://schemas.microsoft.com/office/powerpoint/2010/main" val="892101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E73B7E7C-E467-464F-9065-C22D280CB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65B18279-0AA2-4935-B053-CE65CC319AEA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339803-171C-41B6-8C56-A61C34A8179D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599319-599B-42F4-BDDF-565A4133E088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10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2FE66A6B-CB86-457E-84A1-2D2F5FC614C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Demo Storyboard and User Journey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81E46DE1-9E16-478F-BDF5-452EA6BECDD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A complete user journey proves the product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415C7E-D66D-4422-A768-C559E793EB8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cene-0">
            <a:extLst>
              <a:ext uri="{FF2B5EF4-FFF2-40B4-BE49-F238E27FC236}">
                <a16:creationId xmlns:a16="http://schemas.microsoft.com/office/drawing/2014/main" id="{4A399A35-06E2-4B44-B678-EF436C9822FA}"/>
              </a:ext>
            </a:extLst>
          </p:cNvPr>
          <p:cNvSpPr>
            <a:spLocks noGrp="1"/>
          </p:cNvSpPr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0B790-2C60-4A28-8EAD-1CD6DADCB3CD}"/>
              </a:ext>
            </a:extLst>
          </p:cNvPr>
          <p:cNvSpPr>
            <a:spLocks noGrp="1"/>
          </p:cNvSpPr>
          <p:nvPr/>
        </p:nvSpPr>
        <p:spPr>
          <a:xfrm>
            <a:off x="8953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19DE71-485E-474A-A36B-5B694422EF41}"/>
              </a:ext>
            </a:extLst>
          </p:cNvPr>
          <p:cNvSpPr>
            <a:spLocks noGrp="1"/>
          </p:cNvSpPr>
          <p:nvPr/>
        </p:nvSpPr>
        <p:spPr>
          <a:xfrm>
            <a:off x="8953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Register / Log in → account created → AWS Cognito-style JWT auth</a:t>
            </a:r>
          </a:p>
        </p:txBody>
      </p:sp>
      <p:sp>
        <p:nvSpPr>
          <p:cNvPr id="12" name="scene-1">
            <a:extLst>
              <a:ext uri="{FF2B5EF4-FFF2-40B4-BE49-F238E27FC236}">
                <a16:creationId xmlns:a16="http://schemas.microsoft.com/office/drawing/2014/main" id="{57610830-CC1E-445A-B330-1A090238DED4}"/>
              </a:ext>
            </a:extLst>
          </p:cNvPr>
          <p:cNvSpPr>
            <a:spLocks noGrp="1"/>
          </p:cNvSpPr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F8F28E-4EC9-40A3-B6D5-51BA5FEEEC6A}"/>
              </a:ext>
            </a:extLst>
          </p:cNvPr>
          <p:cNvSpPr>
            <a:spLocks noGrp="1"/>
          </p:cNvSpPr>
          <p:nvPr/>
        </p:nvSpPr>
        <p:spPr>
          <a:xfrm>
            <a:off x="453390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C2BB8A-36C2-4F75-903E-576E3BBC1E18}"/>
              </a:ext>
            </a:extLst>
          </p:cNvPr>
          <p:cNvSpPr>
            <a:spLocks noGrp="1"/>
          </p:cNvSpPr>
          <p:nvPr/>
        </p:nvSpPr>
        <p:spPr>
          <a:xfrm>
            <a:off x="453390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Upload resume + job description → files stored → AWS S3</a:t>
            </a:r>
          </a:p>
        </p:txBody>
      </p:sp>
      <p:sp>
        <p:nvSpPr>
          <p:cNvPr id="15" name="scene-2">
            <a:extLst>
              <a:ext uri="{FF2B5EF4-FFF2-40B4-BE49-F238E27FC236}">
                <a16:creationId xmlns:a16="http://schemas.microsoft.com/office/drawing/2014/main" id="{9EFC1303-C329-4EEE-8C0A-6AD831ACE62F}"/>
              </a:ext>
            </a:extLst>
          </p:cNvPr>
          <p:cNvSpPr>
            <a:spLocks noGrp="1"/>
          </p:cNvSpPr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62BDD7-5D72-4FF6-882A-AB458C0FA45E}"/>
              </a:ext>
            </a:extLst>
          </p:cNvPr>
          <p:cNvSpPr>
            <a:spLocks noGrp="1"/>
          </p:cNvSpPr>
          <p:nvPr/>
        </p:nvSpPr>
        <p:spPr>
          <a:xfrm>
            <a:off x="8172450" y="17335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8946EE-35CB-431B-B6AC-1B3C7E646E42}"/>
              </a:ext>
            </a:extLst>
          </p:cNvPr>
          <p:cNvSpPr>
            <a:spLocks noGrp="1"/>
          </p:cNvSpPr>
          <p:nvPr/>
        </p:nvSpPr>
        <p:spPr>
          <a:xfrm>
            <a:off x="8172450" y="209550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Click Analyze → AI engine parses &amp; scores → Python API on EC2</a:t>
            </a:r>
          </a:p>
        </p:txBody>
      </p:sp>
      <p:sp>
        <p:nvSpPr>
          <p:cNvPr id="18" name="scene-3">
            <a:extLst>
              <a:ext uri="{FF2B5EF4-FFF2-40B4-BE49-F238E27FC236}">
                <a16:creationId xmlns:a16="http://schemas.microsoft.com/office/drawing/2014/main" id="{50BB0E8D-64F6-4711-90BC-2643DBFA5927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D52517-EAC7-4E2D-AEA5-89E791D28A85}"/>
              </a:ext>
            </a:extLst>
          </p:cNvPr>
          <p:cNvSpPr>
            <a:spLocks noGrp="1"/>
          </p:cNvSpPr>
          <p:nvPr/>
        </p:nvSpPr>
        <p:spPr>
          <a:xfrm>
            <a:off x="89535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F18EC-E4BC-4A9F-92F8-563E99983CC3}"/>
              </a:ext>
            </a:extLst>
          </p:cNvPr>
          <p:cNvSpPr>
            <a:spLocks noGrp="1"/>
          </p:cNvSpPr>
          <p:nvPr/>
        </p:nvSpPr>
        <p:spPr>
          <a:xfrm>
            <a:off x="8953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View match score &amp; skill gaps → results fetched → RDS + API Gateway</a:t>
            </a:r>
          </a:p>
        </p:txBody>
      </p:sp>
      <p:sp>
        <p:nvSpPr>
          <p:cNvPr id="21" name="scene-4">
            <a:extLst>
              <a:ext uri="{FF2B5EF4-FFF2-40B4-BE49-F238E27FC236}">
                <a16:creationId xmlns:a16="http://schemas.microsoft.com/office/drawing/2014/main" id="{CF7AB114-69F1-4BA3-8C77-C928B5F05C26}"/>
              </a:ext>
            </a:extLst>
          </p:cNvPr>
          <p:cNvSpPr>
            <a:spLocks noGrp="1"/>
          </p:cNvSpPr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A94E4A-2827-4FFF-AF57-92EB49E58BD7}"/>
              </a:ext>
            </a:extLst>
          </p:cNvPr>
          <p:cNvSpPr>
            <a:spLocks noGrp="1"/>
          </p:cNvSpPr>
          <p:nvPr/>
        </p:nvSpPr>
        <p:spPr>
          <a:xfrm>
            <a:off x="453390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EE9D02-E860-4089-8E79-E78A175B111B}"/>
              </a:ext>
            </a:extLst>
          </p:cNvPr>
          <p:cNvSpPr>
            <a:spLocks noGrp="1"/>
          </p:cNvSpPr>
          <p:nvPr/>
        </p:nvSpPr>
        <p:spPr>
          <a:xfrm>
            <a:off x="453390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View recommended jobs → dashboard renders → Analytics Dashboard</a:t>
            </a:r>
          </a:p>
        </p:txBody>
      </p:sp>
      <p:sp>
        <p:nvSpPr>
          <p:cNvPr id="24" name="scene-5">
            <a:extLst>
              <a:ext uri="{FF2B5EF4-FFF2-40B4-BE49-F238E27FC236}">
                <a16:creationId xmlns:a16="http://schemas.microsoft.com/office/drawing/2014/main" id="{D14E2B8A-9E70-41CE-83BE-DB1C8ED8D808}"/>
              </a:ext>
            </a:extLst>
          </p:cNvPr>
          <p:cNvSpPr>
            <a:spLocks noGrp="1"/>
          </p:cNvSpPr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782D24-30BF-4C2E-A33F-392576E1A1EC}"/>
              </a:ext>
            </a:extLst>
          </p:cNvPr>
          <p:cNvSpPr>
            <a:spLocks noGrp="1"/>
          </p:cNvSpPr>
          <p:nvPr/>
        </p:nvSpPr>
        <p:spPr>
          <a:xfrm>
            <a:off x="8172450" y="34671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4E79"/>
                </a:solidFill>
              </a:defRPr>
            </a:pPr>
            <a:r>
              <a:rPr sz="1500" b="1">
                <a:solidFill>
                  <a:srgbClr val="1F4E79"/>
                </a:solidFill>
              </a:rPr>
              <a:t>Scene 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5C574E-574B-4599-8F92-5C37FA2C269D}"/>
              </a:ext>
            </a:extLst>
          </p:cNvPr>
          <p:cNvSpPr>
            <a:spLocks noGrp="1"/>
          </p:cNvSpPr>
          <p:nvPr/>
        </p:nvSpPr>
        <p:spPr>
          <a:xfrm>
            <a:off x="8172450" y="3829050"/>
            <a:ext cx="270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64748B"/>
                </a:solidFill>
              </a:defRPr>
            </a:pPr>
            <a:r>
              <a:rPr sz="1163" b="0">
                <a:solidFill>
                  <a:srgbClr val="64748B"/>
                </a:solidFill>
              </a:rPr>
              <a:t>Download report → PDF generated &amp; saved → S3 storage</a:t>
            </a:r>
          </a:p>
        </p:txBody>
      </p:sp>
    </p:spTree>
    <p:extLst>
      <p:ext uri="{BB962C8B-B14F-4D97-AF65-F5344CB8AC3E}">
        <p14:creationId xmlns:p14="http://schemas.microsoft.com/office/powerpoint/2010/main" val="1125643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1C0C4E3B-8514-4773-9A03-BBE4BB7646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5693CE99-C685-4C23-B8A6-0505DABF3CF3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20F81E8-DB48-4041-BDD8-196DF3D7B57E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E6819-ECB1-47D9-876E-90678236D3A0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11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3F925C87-0D24-473F-8B09-9D9D7034ED2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Evaluation Readiness Checklist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F5149FA0-E58B-469E-B3F8-D91D3F3B957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Our evidence confirms that the presentation is ready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35290F-B796-4573-B536-F05E7DD1658F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check-0">
            <a:extLst>
              <a:ext uri="{FF2B5EF4-FFF2-40B4-BE49-F238E27FC236}">
                <a16:creationId xmlns:a16="http://schemas.microsoft.com/office/drawing/2014/main" id="{34F4DCF6-D96D-4636-AF25-96E6C83455C9}"/>
              </a:ext>
            </a:extLst>
          </p:cNvPr>
          <p:cNvSpPr>
            <a:spLocks noGrp="1"/>
          </p:cNvSpPr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308A67-1A26-4AE7-9C6C-D7E859222027}"/>
              </a:ext>
            </a:extLst>
          </p:cNvPr>
          <p:cNvSpPr>
            <a:spLocks noGrp="1"/>
          </p:cNvSpPr>
          <p:nvPr/>
        </p:nvSpPr>
        <p:spPr>
          <a:xfrm>
            <a:off x="158115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Cloud ecosystem and service model explained</a:t>
            </a:r>
          </a:p>
        </p:txBody>
      </p:sp>
      <p:sp>
        <p:nvSpPr>
          <p:cNvPr id="12" name="check-1">
            <a:extLst>
              <a:ext uri="{FF2B5EF4-FFF2-40B4-BE49-F238E27FC236}">
                <a16:creationId xmlns:a16="http://schemas.microsoft.com/office/drawing/2014/main" id="{4DFC73CF-FCAB-4F34-84B2-8B2260951E79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429905-CD48-4566-8C8C-65620A490616}"/>
              </a:ext>
            </a:extLst>
          </p:cNvPr>
          <p:cNvSpPr>
            <a:spLocks noGrp="1"/>
          </p:cNvSpPr>
          <p:nvPr/>
        </p:nvSpPr>
        <p:spPr>
          <a:xfrm>
            <a:off x="158115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REST/SOAP/API role connected to capstone</a:t>
            </a:r>
          </a:p>
        </p:txBody>
      </p:sp>
      <p:sp>
        <p:nvSpPr>
          <p:cNvPr id="15" name="check-2">
            <a:extLst>
              <a:ext uri="{FF2B5EF4-FFF2-40B4-BE49-F238E27FC236}">
                <a16:creationId xmlns:a16="http://schemas.microsoft.com/office/drawing/2014/main" id="{230B551B-1E3F-4CFD-871C-DE8A0551AC25}"/>
              </a:ext>
            </a:extLst>
          </p:cNvPr>
          <p:cNvSpPr>
            <a:spLocks noGrp="1"/>
          </p:cNvSpPr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4D5AB-74AF-422E-B946-107A074DF99D}"/>
              </a:ext>
            </a:extLst>
          </p:cNvPr>
          <p:cNvSpPr>
            <a:spLocks noGrp="1"/>
          </p:cNvSpPr>
          <p:nvPr/>
        </p:nvSpPr>
        <p:spPr>
          <a:xfrm>
            <a:off x="158115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Architecture has compute, data, storage, security, monitoring</a:t>
            </a:r>
          </a:p>
        </p:txBody>
      </p:sp>
      <p:sp>
        <p:nvSpPr>
          <p:cNvPr id="18" name="check-3">
            <a:extLst>
              <a:ext uri="{FF2B5EF4-FFF2-40B4-BE49-F238E27FC236}">
                <a16:creationId xmlns:a16="http://schemas.microsoft.com/office/drawing/2014/main" id="{3AD4B6B2-2FFC-4382-8228-CC209BD6458E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DA6D79-4379-4554-96FE-74C201FB49DB}"/>
              </a:ext>
            </a:extLst>
          </p:cNvPr>
          <p:cNvSpPr>
            <a:spLocks noGrp="1"/>
          </p:cNvSpPr>
          <p:nvPr/>
        </p:nvSpPr>
        <p:spPr>
          <a:xfrm>
            <a:off x="7200900" y="17907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 dirty="0">
                <a:solidFill>
                  <a:srgbClr val="172033"/>
                </a:solidFill>
              </a:rPr>
              <a:t>Elasticity and scalability decisions are visible</a:t>
            </a:r>
          </a:p>
        </p:txBody>
      </p:sp>
      <p:sp>
        <p:nvSpPr>
          <p:cNvPr id="21" name="check-4">
            <a:extLst>
              <a:ext uri="{FF2B5EF4-FFF2-40B4-BE49-F238E27FC236}">
                <a16:creationId xmlns:a16="http://schemas.microsoft.com/office/drawing/2014/main" id="{E5AD4F2E-CB3A-4146-824A-BA8A269985CD}"/>
              </a:ext>
            </a:extLst>
          </p:cNvPr>
          <p:cNvSpPr>
            <a:spLocks noGrp="1"/>
          </p:cNvSpPr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9720A3-8DE0-4055-B295-602EC4838572}"/>
              </a:ext>
            </a:extLst>
          </p:cNvPr>
          <p:cNvSpPr>
            <a:spLocks noGrp="1"/>
          </p:cNvSpPr>
          <p:nvPr/>
        </p:nvSpPr>
        <p:spPr>
          <a:xfrm>
            <a:off x="7200900" y="28575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GitHub and cloud evidence are inspectable</a:t>
            </a:r>
          </a:p>
        </p:txBody>
      </p:sp>
      <p:sp>
        <p:nvSpPr>
          <p:cNvPr id="24" name="check-5">
            <a:extLst>
              <a:ext uri="{FF2B5EF4-FFF2-40B4-BE49-F238E27FC236}">
                <a16:creationId xmlns:a16="http://schemas.microsoft.com/office/drawing/2014/main" id="{ACFB9D9B-7883-4DB3-B5DD-36EEF1A21C89}"/>
              </a:ext>
            </a:extLst>
          </p:cNvPr>
          <p:cNvSpPr>
            <a:spLocks noGrp="1"/>
          </p:cNvSpPr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1BA247-5AF3-451D-843A-DA115C0F0D27}"/>
              </a:ext>
            </a:extLst>
          </p:cNvPr>
          <p:cNvSpPr>
            <a:spLocks noGrp="1"/>
          </p:cNvSpPr>
          <p:nvPr/>
        </p:nvSpPr>
        <p:spPr>
          <a:xfrm>
            <a:off x="7200900" y="392430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References and integrity statement are included</a:t>
            </a:r>
          </a:p>
        </p:txBody>
      </p:sp>
      <p:sp>
        <p:nvSpPr>
          <p:cNvPr id="27" name="Evaluator Focus-panel">
            <a:extLst>
              <a:ext uri="{FF2B5EF4-FFF2-40B4-BE49-F238E27FC236}">
                <a16:creationId xmlns:a16="http://schemas.microsoft.com/office/drawing/2014/main" id="{4C4C0A62-3C8C-48C4-A196-D1591DCC4E31}"/>
              </a:ext>
            </a:extLst>
          </p:cNvPr>
          <p:cNvSpPr>
            <a:spLocks noGrp="1"/>
          </p:cNvSpPr>
          <p:nvPr/>
        </p:nvSpPr>
        <p:spPr>
          <a:xfrm>
            <a:off x="2095500" y="4953000"/>
            <a:ext cx="8001000" cy="7048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8" name="Evaluator Focus-bar">
            <a:extLst>
              <a:ext uri="{FF2B5EF4-FFF2-40B4-BE49-F238E27FC236}">
                <a16:creationId xmlns:a16="http://schemas.microsoft.com/office/drawing/2014/main" id="{72452345-1CDB-46A8-886D-484547A34256}"/>
              </a:ext>
            </a:extLst>
          </p:cNvPr>
          <p:cNvSpPr>
            <a:spLocks noGrp="1"/>
          </p:cNvSpPr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320680-4D67-45A9-B736-14C03ED37D34}"/>
              </a:ext>
            </a:extLst>
          </p:cNvPr>
          <p:cNvSpPr>
            <a:spLocks noGrp="1"/>
          </p:cNvSpPr>
          <p:nvPr/>
        </p:nvSpPr>
        <p:spPr>
          <a:xfrm>
            <a:off x="2266950" y="5143500"/>
            <a:ext cx="7658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Evaluator Focus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CA4E37-EADA-4646-8462-FF3E43AD53C1}"/>
              </a:ext>
            </a:extLst>
          </p:cNvPr>
          <p:cNvSpPr>
            <a:spLocks noGrp="1"/>
          </p:cNvSpPr>
          <p:nvPr/>
        </p:nvSpPr>
        <p:spPr>
          <a:xfrm>
            <a:off x="2266950" y="5543550"/>
            <a:ext cx="76581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CO1 is verified through cloud design reasoning, service choices, evidence, and individual explanation.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7B5463-A327-1385-43C3-62EADB63C3EB}"/>
              </a:ext>
            </a:extLst>
          </p:cNvPr>
          <p:cNvSpPr txBox="1"/>
          <p:nvPr/>
        </p:nvSpPr>
        <p:spPr>
          <a:xfrm>
            <a:off x="1083564" y="1700540"/>
            <a:ext cx="11475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291B63-F063-2163-CB3C-DA754B8B249C}"/>
              </a:ext>
            </a:extLst>
          </p:cNvPr>
          <p:cNvSpPr txBox="1"/>
          <p:nvPr/>
        </p:nvSpPr>
        <p:spPr>
          <a:xfrm>
            <a:off x="1083564" y="2774579"/>
            <a:ext cx="46314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🗹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072072-6761-BF4D-71DA-565C8A797E5B}"/>
              </a:ext>
            </a:extLst>
          </p:cNvPr>
          <p:cNvSpPr txBox="1"/>
          <p:nvPr/>
        </p:nvSpPr>
        <p:spPr>
          <a:xfrm>
            <a:off x="1101852" y="3898666"/>
            <a:ext cx="49941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🗹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B3C0A5-601B-3A19-2A4F-41EE49619BD9}"/>
              </a:ext>
            </a:extLst>
          </p:cNvPr>
          <p:cNvSpPr txBox="1"/>
          <p:nvPr/>
        </p:nvSpPr>
        <p:spPr>
          <a:xfrm>
            <a:off x="6742176" y="1696867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🗹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E1F8B92-6257-6988-028D-B65728D67A0A}"/>
              </a:ext>
            </a:extLst>
          </p:cNvPr>
          <p:cNvSpPr txBox="1"/>
          <p:nvPr/>
        </p:nvSpPr>
        <p:spPr>
          <a:xfrm>
            <a:off x="6742176" y="2781955"/>
            <a:ext cx="6419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🗹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D20CAE-8A52-A541-5A76-180C622F7077}"/>
              </a:ext>
            </a:extLst>
          </p:cNvPr>
          <p:cNvSpPr txBox="1"/>
          <p:nvPr/>
        </p:nvSpPr>
        <p:spPr>
          <a:xfrm>
            <a:off x="6742176" y="3834140"/>
            <a:ext cx="65791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🗹</a:t>
            </a:r>
          </a:p>
        </p:txBody>
      </p:sp>
    </p:spTree>
    <p:extLst>
      <p:ext uri="{BB962C8B-B14F-4D97-AF65-F5344CB8AC3E}">
        <p14:creationId xmlns:p14="http://schemas.microsoft.com/office/powerpoint/2010/main" val="1240286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op-rule">
            <a:extLst>
              <a:ext uri="{FF2B5EF4-FFF2-40B4-BE49-F238E27FC236}">
                <a16:creationId xmlns:a16="http://schemas.microsoft.com/office/drawing/2014/main" id="{876793B5-B486-42E4-8852-103A61EB5A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accent-rule">
            <a:extLst>
              <a:ext uri="{FF2B5EF4-FFF2-40B4-BE49-F238E27FC236}">
                <a16:creationId xmlns:a16="http://schemas.microsoft.com/office/drawing/2014/main" id="{65D318C5-0AC5-48FF-A495-48C4134643C2}"/>
              </a:ext>
            </a:extLst>
          </p:cNvPr>
          <p:cNvSpPr>
            <a:spLocks noGrp="1"/>
          </p:cNvSpPr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55890"/>
            <a:ext cx="2095500" cy="2692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2C36FE-6878-4E9C-901A-082C1FCA6DA1}"/>
              </a:ext>
            </a:extLst>
          </p:cNvPr>
          <p:cNvSpPr>
            <a:spLocks noGrp="1"/>
          </p:cNvSpPr>
          <p:nvPr/>
        </p:nvSpPr>
        <p:spPr>
          <a:xfrm>
            <a:off x="781050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334155"/>
                </a:solidFill>
              </a:defRPr>
            </a:pPr>
            <a:r>
              <a:rPr sz="975" b="1">
                <a:solidFill>
                  <a:srgbClr val="334155"/>
                </a:solidFill>
              </a:rPr>
              <a:t>CSA15 | Cloud Computing and Big Data Analytics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3CA182-99C2-4972-BB13-131BFDC0A7C2}"/>
              </a:ext>
            </a:extLst>
          </p:cNvPr>
          <p:cNvSpPr>
            <a:spLocks noGrp="1"/>
          </p:cNvSpPr>
          <p:nvPr/>
        </p:nvSpPr>
        <p:spPr>
          <a:xfrm>
            <a:off x="10572750" y="6381750"/>
            <a:ext cx="1009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4748B"/>
                </a:solidFill>
              </a:defRPr>
            </a:pPr>
            <a:r>
              <a:rPr sz="900" b="1">
                <a:solidFill>
                  <a:srgbClr val="64748B"/>
                </a:solidFill>
              </a:rPr>
              <a:t>CO1 AT3 | 12</a:t>
            </a:r>
          </a:p>
        </p:txBody>
      </p:sp>
      <p:sp>
        <p:nvSpPr>
          <p:cNvPr id="6" name="slide-title">
            <a:extLst>
              <a:ext uri="{FF2B5EF4-FFF2-40B4-BE49-F238E27FC236}">
                <a16:creationId xmlns:a16="http://schemas.microsoft.com/office/drawing/2014/main" id="{612E967D-8CE4-4A04-B9B4-6E9C4D65CC05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4E79"/>
                </a:solidFill>
              </a:defRPr>
            </a:pPr>
            <a:r>
              <a:rPr sz="2550" b="1">
                <a:solidFill>
                  <a:srgbClr val="1F4E79"/>
                </a:solidFill>
              </a:rPr>
              <a:t>Conclusion, Limitations and Future Scope</a:t>
            </a:r>
          </a:p>
        </p:txBody>
      </p:sp>
      <p:sp>
        <p:nvSpPr>
          <p:cNvPr id="7" name="slide-subtitle">
            <a:extLst>
              <a:ext uri="{FF2B5EF4-FFF2-40B4-BE49-F238E27FC236}">
                <a16:creationId xmlns:a16="http://schemas.microsoft.com/office/drawing/2014/main" id="{28974622-4853-4A16-8858-0EF72FD11A0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We close with learning, limitations and next steps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4F866D-DB12-404B-A34D-0DD4A4141FBA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81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Individual student submission template | Department of Computer Science and Engineering</a:t>
            </a:r>
          </a:p>
        </p:txBody>
      </p:sp>
      <p:sp>
        <p:nvSpPr>
          <p:cNvPr id="9" name="section-0">
            <a:extLst>
              <a:ext uri="{FF2B5EF4-FFF2-40B4-BE49-F238E27FC236}">
                <a16:creationId xmlns:a16="http://schemas.microsoft.com/office/drawing/2014/main" id="{C0361BCA-A437-4784-9AD1-D68A84138A95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0" name="section-accent-0">
            <a:extLst>
              <a:ext uri="{FF2B5EF4-FFF2-40B4-BE49-F238E27FC236}">
                <a16:creationId xmlns:a16="http://schemas.microsoft.com/office/drawing/2014/main" id="{65DF8835-4188-4A86-9DBA-2F0BFB420EDF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 w="9525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4F8367-70F2-431C-A63F-AAB44121D7A8}"/>
              </a:ext>
            </a:extLst>
          </p:cNvPr>
          <p:cNvSpPr>
            <a:spLocks noGrp="1"/>
          </p:cNvSpPr>
          <p:nvPr/>
        </p:nvSpPr>
        <p:spPr>
          <a:xfrm>
            <a:off x="9525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Learning Outcome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6115AB-7EF5-43BF-91F9-B39FDF58C75A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How cloud service models, managed databases, and API gateways combine to host a real AI-powered product.</a:t>
            </a:r>
          </a:p>
        </p:txBody>
      </p:sp>
      <p:sp>
        <p:nvSpPr>
          <p:cNvPr id="13" name="section-1">
            <a:extLst>
              <a:ext uri="{FF2B5EF4-FFF2-40B4-BE49-F238E27FC236}">
                <a16:creationId xmlns:a16="http://schemas.microsoft.com/office/drawing/2014/main" id="{4B7667F0-2862-47B5-849B-1AC6F75365F3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4" name="section-accent-1">
            <a:extLst>
              <a:ext uri="{FF2B5EF4-FFF2-40B4-BE49-F238E27FC236}">
                <a16:creationId xmlns:a16="http://schemas.microsoft.com/office/drawing/2014/main" id="{A2E55186-C340-4C47-8162-4B6587F293AF}"/>
              </a:ext>
            </a:extLst>
          </p:cNvPr>
          <p:cNvSpPr>
            <a:spLocks noGrp="1"/>
          </p:cNvSpPr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 w="9525">
            <a:solidFill>
              <a:srgbClr val="2F66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86C06D-229A-4F11-A0AE-CBBCDF267863}"/>
              </a:ext>
            </a:extLst>
          </p:cNvPr>
          <p:cNvSpPr>
            <a:spLocks noGrp="1"/>
          </p:cNvSpPr>
          <p:nvPr/>
        </p:nvSpPr>
        <p:spPr>
          <a:xfrm>
            <a:off x="6362700" y="17907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Limitations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EB3B2B-9112-4816-B6D7-FCE750B5E7B8}"/>
              </a:ext>
            </a:extLst>
          </p:cNvPr>
          <p:cNvSpPr>
            <a:spLocks noGrp="1"/>
          </p:cNvSpPr>
          <p:nvPr/>
        </p:nvSpPr>
        <p:spPr>
          <a:xfrm>
            <a:off x="6362700" y="2190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Match scoring currently handles single-file resumes; multi-language and resume formats beyond PDF need more testing.</a:t>
            </a:r>
          </a:p>
        </p:txBody>
      </p:sp>
      <p:sp>
        <p:nvSpPr>
          <p:cNvPr id="17" name="section-2">
            <a:extLst>
              <a:ext uri="{FF2B5EF4-FFF2-40B4-BE49-F238E27FC236}">
                <a16:creationId xmlns:a16="http://schemas.microsoft.com/office/drawing/2014/main" id="{4EFF2DCC-027C-4A3B-A958-D558E2456FC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18" name="section-accent-2">
            <a:extLst>
              <a:ext uri="{FF2B5EF4-FFF2-40B4-BE49-F238E27FC236}">
                <a16:creationId xmlns:a16="http://schemas.microsoft.com/office/drawing/2014/main" id="{0825E114-A09D-4CDB-A41A-45AB14645A35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 w="9525">
            <a:solidFill>
              <a:srgbClr val="466A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A34146-BE1D-40D5-9BDD-44FBA4611A1B}"/>
              </a:ext>
            </a:extLst>
          </p:cNvPr>
          <p:cNvSpPr>
            <a:spLocks noGrp="1"/>
          </p:cNvSpPr>
          <p:nvPr/>
        </p:nvSpPr>
        <p:spPr>
          <a:xfrm>
            <a:off x="9525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Future Improvement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A6BD62-2CAD-47DD-BD8F-D041F0F35655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LinkedIn integration, an AI career chat assistant, and real-time job notifications.</a:t>
            </a:r>
          </a:p>
        </p:txBody>
      </p:sp>
      <p:sp>
        <p:nvSpPr>
          <p:cNvPr id="21" name="section-3">
            <a:extLst>
              <a:ext uri="{FF2B5EF4-FFF2-40B4-BE49-F238E27FC236}">
                <a16:creationId xmlns:a16="http://schemas.microsoft.com/office/drawing/2014/main" id="{6C23C1F2-E5D7-436C-9B67-53C94DA557E9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B7C9D9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IN"/>
          </a:p>
        </p:txBody>
      </p:sp>
      <p:sp>
        <p:nvSpPr>
          <p:cNvPr id="22" name="section-accent-3">
            <a:extLst>
              <a:ext uri="{FF2B5EF4-FFF2-40B4-BE49-F238E27FC236}">
                <a16:creationId xmlns:a16="http://schemas.microsoft.com/office/drawing/2014/main" id="{185B2B51-1501-411B-A39B-AD104B394F9A}"/>
              </a:ext>
            </a:extLst>
          </p:cNvPr>
          <p:cNvSpPr>
            <a:spLocks noGrp="1"/>
          </p:cNvSpPr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 w="9525">
            <a:solidFill>
              <a:srgbClr val="7C95A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E675E1-48DE-4CFC-88F5-B0B37032BEAC}"/>
              </a:ext>
            </a:extLst>
          </p:cNvPr>
          <p:cNvSpPr>
            <a:spLocks noGrp="1"/>
          </p:cNvSpPr>
          <p:nvPr/>
        </p:nvSpPr>
        <p:spPr>
          <a:xfrm>
            <a:off x="6362700" y="3429000"/>
            <a:ext cx="419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F4E79"/>
                </a:solidFill>
              </a:defRPr>
            </a:pPr>
            <a:r>
              <a:rPr sz="1650" b="1">
                <a:solidFill>
                  <a:srgbClr val="1F4E79"/>
                </a:solidFill>
              </a:rPr>
              <a:t>Integrity Statement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58526A-31B8-4AD5-82E0-561822AB18E6}"/>
              </a:ext>
            </a:extLst>
          </p:cNvPr>
          <p:cNvSpPr>
            <a:spLocks noGrp="1"/>
          </p:cNvSpPr>
          <p:nvPr/>
        </p:nvSpPr>
        <p:spPr>
          <a:xfrm>
            <a:off x="6362700" y="38290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Built with Spring Boot, Python (spaCy, NLTK, scikit-learn), and AWS services; AI assistance used for planning and drafting, acknowledged here.</a:t>
            </a:r>
          </a:p>
        </p:txBody>
      </p:sp>
    </p:spTree>
    <p:extLst>
      <p:ext uri="{BB962C8B-B14F-4D97-AF65-F5344CB8AC3E}">
        <p14:creationId xmlns:p14="http://schemas.microsoft.com/office/powerpoint/2010/main" val="11775586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1653</Words>
  <Application>Microsoft Office PowerPoint</Application>
  <DocSecurity>0</DocSecurity>
  <PresentationFormat>Widescreen</PresentationFormat>
  <Paragraphs>213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Wingdings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Owner: Dr. C. Rajesh Babu; Employee ID: SSETSCS-415</dc:subject>
  <dc:creator>Dr. C. Rajesh Babu</dc:creator>
  <cp:keywords>CSA15; Cloud Computing and Big Data Analytics; Dr. C. Rajesh Babu; SSETSCS-415</cp:keywords>
  <cp:lastModifiedBy>Mukilan R</cp:lastModifiedBy>
  <cp:revision>1</cp:revision>
  <dcterms:created xsi:type="dcterms:W3CDTF">2026-07-09T20:50:04Z</dcterms:created>
  <dcterms:modified xsi:type="dcterms:W3CDTF">2026-07-17T17:01:01Z</dcterms:modified>
</cp:coreProperties>
</file>